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media/image4.jpg" ContentType="image/pn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61" r:id="rId4"/>
    <p:sldId id="274" r:id="rId5"/>
    <p:sldId id="275" r:id="rId6"/>
    <p:sldId id="272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60" r:id="rId16"/>
  </p:sldIdLst>
  <p:sldSz cx="12192000" cy="6858000"/>
  <p:notesSz cx="6858000" cy="9144000"/>
  <p:embeddedFontLst>
    <p:embeddedFont>
      <p:font typeface="Candara" panose="020E0502030303020204" pitchFamily="34" charset="0"/>
      <p:regular r:id="rId18"/>
      <p:bold r:id="rId19"/>
      <p:italic r:id="rId20"/>
      <p:bold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347" userDrawn="1">
          <p15:clr>
            <a:srgbClr val="000000"/>
          </p15:clr>
        </p15:guide>
        <p15:guide id="3" orient="horz" pos="1344" userDrawn="1">
          <p15:clr>
            <a:srgbClr val="A4A3A4"/>
          </p15:clr>
        </p15:guide>
        <p15:guide id="4" orient="horz" pos="9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g2fLzW2NWhC2ejww7VA5lENbgL/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3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65CAB"/>
    <a:srgbClr val="0046A2"/>
    <a:srgbClr val="D1D1D1"/>
    <a:srgbClr val="F1BE29"/>
    <a:srgbClr val="7BC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>
      <p:cViewPr varScale="1">
        <p:scale>
          <a:sx n="147" d="100"/>
          <a:sy n="147" d="100"/>
        </p:scale>
        <p:origin x="138" y="186"/>
      </p:cViewPr>
      <p:guideLst>
        <p:guide pos="347"/>
        <p:guide orient="horz" pos="1344"/>
        <p:guide orient="horz" pos="9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 userDrawn="1">
  <p:cSld name="TITLE">
    <p:bg>
      <p:bgRef idx="1001">
        <a:schemeClr val="bg1"/>
      </p:bgRef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8;p1">
            <a:extLst>
              <a:ext uri="{FF2B5EF4-FFF2-40B4-BE49-F238E27FC236}">
                <a16:creationId xmlns:a16="http://schemas.microsoft.com/office/drawing/2014/main" id="{2D925FD8-DECC-4CD6-B8C0-B1ADCC5FA20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6270" b="884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B0283559-7C69-4037-A5DE-025458FA127C}"/>
              </a:ext>
            </a:extLst>
          </p:cNvPr>
          <p:cNvGrpSpPr/>
          <p:nvPr userDrawn="1"/>
        </p:nvGrpSpPr>
        <p:grpSpPr>
          <a:xfrm>
            <a:off x="694478" y="633067"/>
            <a:ext cx="9502816" cy="4706741"/>
            <a:chOff x="694478" y="633067"/>
            <a:chExt cx="9502816" cy="4706741"/>
          </a:xfrm>
        </p:grpSpPr>
        <p:pic>
          <p:nvPicPr>
            <p:cNvPr id="9" name="Google Shape;13;p5">
              <a:extLst>
                <a:ext uri="{FF2B5EF4-FFF2-40B4-BE49-F238E27FC236}">
                  <a16:creationId xmlns:a16="http://schemas.microsoft.com/office/drawing/2014/main" id="{2F2230A9-DF50-482B-98EE-86D3A472B57F}"/>
                </a:ext>
              </a:extLst>
            </p:cNvPr>
            <p:cNvPicPr preferRelativeResize="0"/>
            <p:nvPr userDrawn="1"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94481" y="633067"/>
              <a:ext cx="9502813" cy="470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967D30A-87B4-4421-A52A-46DC79DD78AC}"/>
                </a:ext>
              </a:extLst>
            </p:cNvPr>
            <p:cNvSpPr/>
            <p:nvPr userDrawn="1"/>
          </p:nvSpPr>
          <p:spPr>
            <a:xfrm>
              <a:off x="694478" y="5306991"/>
              <a:ext cx="9502813" cy="28800"/>
            </a:xfrm>
            <a:prstGeom prst="rect">
              <a:avLst/>
            </a:prstGeom>
            <a:solidFill>
              <a:srgbClr val="E6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0BDE73-1EE8-4C18-91ED-1CD26511FE5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57539" y="611835"/>
            <a:ext cx="2361600" cy="721959"/>
          </a:xfrm>
          <a:prstGeom prst="rect">
            <a:avLst/>
          </a:prstGeom>
        </p:spPr>
      </p:pic>
      <p:sp>
        <p:nvSpPr>
          <p:cNvPr id="4" name="Google Shape;11;p5">
            <a:extLst>
              <a:ext uri="{FF2B5EF4-FFF2-40B4-BE49-F238E27FC236}">
                <a16:creationId xmlns:a16="http://schemas.microsoft.com/office/drawing/2014/main" id="{E3BFA7FB-261D-418C-AB36-0AE52A4CC41D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1078287" y="831273"/>
            <a:ext cx="9119010" cy="3416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Open Sans"/>
              <a:buNone/>
              <a:defRPr sz="4400" b="0">
                <a:solidFill>
                  <a:schemeClr val="lt1"/>
                </a:solidFill>
                <a:latin typeface="+mj-lt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dirty="0"/>
              <a:t>Заголовок слайда</a:t>
            </a:r>
            <a:endParaRPr dirty="0"/>
          </a:p>
        </p:txBody>
      </p:sp>
      <p:sp>
        <p:nvSpPr>
          <p:cNvPr id="5" name="Google Shape;12;p5">
            <a:extLst>
              <a:ext uri="{FF2B5EF4-FFF2-40B4-BE49-F238E27FC236}">
                <a16:creationId xmlns:a16="http://schemas.microsoft.com/office/drawing/2014/main" id="{84D6A78E-BD41-4E16-8DD7-8CD3958FF54B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1078286" y="4363657"/>
            <a:ext cx="9119010" cy="96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  <a:sym typeface="Open Sans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ru-RU" dirty="0"/>
              <a:t>Подзаголовок слайда</a:t>
            </a:r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подзаголовок и объект" userDrawn="1">
  <p:cSld name="Заголовок, подзаголовок и объект">
    <p:bg>
      <p:bgRef idx="1001">
        <a:schemeClr val="bg1"/>
      </p:bgRef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body" idx="1" hasCustomPrompt="1"/>
          </p:nvPr>
        </p:nvSpPr>
        <p:spPr>
          <a:xfrm>
            <a:off x="558782" y="1778092"/>
            <a:ext cx="11196533" cy="4473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55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30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▪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2" hasCustomPrompt="1"/>
          </p:nvPr>
        </p:nvSpPr>
        <p:spPr>
          <a:xfrm>
            <a:off x="558782" y="1185979"/>
            <a:ext cx="11196533" cy="584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SzPts val="3200"/>
              <a:buNone/>
              <a:defRPr sz="270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ru-RU" dirty="0"/>
              <a:t>Текст слайда</a:t>
            </a:r>
          </a:p>
          <a:p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id="{464BD804-D61C-41D4-836A-3F0D562072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3;p17">
            <a:extLst>
              <a:ext uri="{FF2B5EF4-FFF2-40B4-BE49-F238E27FC236}">
                <a16:creationId xmlns:a16="http://schemas.microsoft.com/office/drawing/2014/main" id="{3C33CCE7-3AA5-4E4A-9FB4-1EE49FE9D89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3;p17">
            <a:extLst>
              <a:ext uri="{FF2B5EF4-FFF2-40B4-BE49-F238E27FC236}">
                <a16:creationId xmlns:a16="http://schemas.microsoft.com/office/drawing/2014/main" id="{0CA1A5D0-6F6B-4B83-84EB-024B06E2BB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текст и объект" userDrawn="1">
  <p:cSld name="Заголовок, текст и объект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 hasCustomPrompt="1"/>
          </p:nvPr>
        </p:nvSpPr>
        <p:spPr>
          <a:xfrm>
            <a:off x="5183187" y="1301263"/>
            <a:ext cx="6735185" cy="490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2" hasCustomPrompt="1"/>
          </p:nvPr>
        </p:nvSpPr>
        <p:spPr>
          <a:xfrm>
            <a:off x="273628" y="1301263"/>
            <a:ext cx="4784147" cy="4908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 hasCustomPrompt="1"/>
          </p:nvPr>
        </p:nvSpPr>
        <p:spPr>
          <a:xfrm>
            <a:off x="273628" y="1213658"/>
            <a:ext cx="4702029" cy="84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Open Sans"/>
              <a:buNone/>
              <a:defRPr sz="2700">
                <a:latin typeface="ALS Sector Bold" pitchFamily="2" charset="0"/>
                <a:ea typeface="Open Sans"/>
                <a:cs typeface="ALS Sector Bold" pitchFamily="2" charset="0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z="2700" dirty="0"/>
              <a:t>Заголовок слайда</a:t>
            </a: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 hasCustomPrompt="1"/>
          </p:nvPr>
        </p:nvSpPr>
        <p:spPr>
          <a:xfrm>
            <a:off x="5183187" y="311727"/>
            <a:ext cx="6735185" cy="5549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▪"/>
              <a:defRPr sz="2700">
                <a:latin typeface="ALS Sector Regular" panose="02000000000000000000" pitchFamily="2" charset="0"/>
                <a:cs typeface="ALS Sector Regular" panose="02000000000000000000" pitchFamily="2" charset="0"/>
              </a:defRPr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▪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▪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▪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2" hasCustomPrompt="1"/>
          </p:nvPr>
        </p:nvSpPr>
        <p:spPr>
          <a:xfrm>
            <a:off x="273628" y="2057400"/>
            <a:ext cx="4702029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1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id="{375ED264-9BE6-45D1-BEF5-3485B756C4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 hasCustomPrompt="1"/>
          </p:nvPr>
        </p:nvSpPr>
        <p:spPr>
          <a:xfrm>
            <a:off x="322118" y="1197033"/>
            <a:ext cx="4449907" cy="860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Open Sans"/>
              <a:buNone/>
              <a:defRPr sz="2700">
                <a:latin typeface="ALS Sector Bold" pitchFamily="2" charset="0"/>
                <a:ea typeface="Open Sans"/>
                <a:cs typeface="ALS Sector Bold" pitchFamily="2" charset="0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ru-RU" sz="2700" dirty="0"/>
              <a:t>Заголовок слайда</a:t>
            </a:r>
            <a:endParaRPr dirty="0"/>
          </a:p>
        </p:txBody>
      </p:sp>
      <p:sp>
        <p:nvSpPr>
          <p:cNvPr id="86" name="Google Shape;86;p18"/>
          <p:cNvSpPr>
            <a:spLocks noGrp="1"/>
          </p:cNvSpPr>
          <p:nvPr>
            <p:ph type="pic" idx="2" hasCustomPrompt="1"/>
          </p:nvPr>
        </p:nvSpPr>
        <p:spPr>
          <a:xfrm>
            <a:off x="5287096" y="238509"/>
            <a:ext cx="6582785" cy="5627304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803"/>
              </a:srgbClr>
            </a:outerShdw>
          </a:effectLst>
        </p:spPr>
        <p:txBody>
          <a:bodyPr>
            <a:normAutofit/>
          </a:bodyPr>
          <a:lstStyle>
            <a:lvl1pPr>
              <a:defRPr sz="2300">
                <a:latin typeface="ALS Sector Regular" panose="02000000000000000000" pitchFamily="2" charset="0"/>
                <a:cs typeface="ALS Sector Regular" panose="02000000000000000000" pitchFamily="2" charset="0"/>
              </a:defRPr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 hasCustomPrompt="1"/>
          </p:nvPr>
        </p:nvSpPr>
        <p:spPr>
          <a:xfrm>
            <a:off x="322118" y="2057400"/>
            <a:ext cx="444990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76200" lvl="0" indent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sz="1300"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8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984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▪"/>
              <a:defRPr sz="11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r>
              <a:rPr lang="ru-RU" dirty="0"/>
              <a:t>Текст слайда</a:t>
            </a:r>
            <a:endParaRPr dirty="0"/>
          </a:p>
        </p:txBody>
      </p:sp>
      <p:sp>
        <p:nvSpPr>
          <p:cNvPr id="6" name="Google Shape;83;p17">
            <a:extLst>
              <a:ext uri="{FF2B5EF4-FFF2-40B4-BE49-F238E27FC236}">
                <a16:creationId xmlns:a16="http://schemas.microsoft.com/office/drawing/2014/main" id="{BB71C74F-A570-498D-A002-6D7C372C65B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крывающий слайд пустой" userDrawn="1">
  <p:cSld name="Закрывающий слайд пустой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88;p1">
            <a:extLst>
              <a:ext uri="{FF2B5EF4-FFF2-40B4-BE49-F238E27FC236}">
                <a16:creationId xmlns:a16="http://schemas.microsoft.com/office/drawing/2014/main" id="{12BBAE2F-1E25-4B32-9650-086D0CA2FE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6270" b="8845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857A83-5237-42B9-BA8A-BF8F445C1D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75410" y="2096584"/>
            <a:ext cx="1332000" cy="1332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F32500-0827-4423-A3B8-9538CB7A7CD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78526" y="2042584"/>
            <a:ext cx="4710383" cy="1440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5D1BD65-59E0-46AC-BC24-1B28D1FA30E4}"/>
              </a:ext>
            </a:extLst>
          </p:cNvPr>
          <p:cNvSpPr txBox="1"/>
          <p:nvPr userDrawn="1"/>
        </p:nvSpPr>
        <p:spPr>
          <a:xfrm>
            <a:off x="7849902" y="2522519"/>
            <a:ext cx="3048512" cy="480131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  <a:latin typeface="ALS Sector Bold" pitchFamily="2" charset="0"/>
                <a:ea typeface="Roboto Black" panose="02000000000000000000" pitchFamily="2" charset="0"/>
              </a:rPr>
              <a:t>do.bmstu.ru</a:t>
            </a:r>
            <a:endParaRPr lang="ru-RU" sz="2800" dirty="0">
              <a:solidFill>
                <a:schemeClr val="bg1"/>
              </a:solidFill>
              <a:latin typeface="ALS Sector Bold" pitchFamily="2" charset="0"/>
              <a:ea typeface="Roboto Black" panose="02000000000000000000" pitchFamily="2" charset="0"/>
            </a:endParaRPr>
          </a:p>
        </p:txBody>
      </p:sp>
      <p:sp>
        <p:nvSpPr>
          <p:cNvPr id="32" name="Прямоугольник 58">
            <a:extLst>
              <a:ext uri="{FF2B5EF4-FFF2-40B4-BE49-F238E27FC236}">
                <a16:creationId xmlns:a16="http://schemas.microsoft.com/office/drawing/2014/main" id="{046CF162-1BBC-4CF7-9474-D6A32C635F92}"/>
              </a:ext>
            </a:extLst>
          </p:cNvPr>
          <p:cNvSpPr/>
          <p:nvPr userDrawn="1"/>
        </p:nvSpPr>
        <p:spPr>
          <a:xfrm flipH="1">
            <a:off x="10711835" y="2096584"/>
            <a:ext cx="130790" cy="1332000"/>
          </a:xfrm>
          <a:custGeom>
            <a:avLst/>
            <a:gdLst>
              <a:gd name="connsiteX0" fmla="*/ 0 w 424732"/>
              <a:gd name="connsiteY0" fmla="*/ 0 h 424732"/>
              <a:gd name="connsiteX1" fmla="*/ 424732 w 424732"/>
              <a:gd name="connsiteY1" fmla="*/ 0 h 424732"/>
              <a:gd name="connsiteX2" fmla="*/ 424732 w 424732"/>
              <a:gd name="connsiteY2" fmla="*/ 424732 h 424732"/>
              <a:gd name="connsiteX3" fmla="*/ 0 w 424732"/>
              <a:gd name="connsiteY3" fmla="*/ 424732 h 424732"/>
              <a:gd name="connsiteX4" fmla="*/ 0 w 424732"/>
              <a:gd name="connsiteY4" fmla="*/ 0 h 424732"/>
              <a:gd name="connsiteX0" fmla="*/ 0 w 425450"/>
              <a:gd name="connsiteY0" fmla="*/ 0 h 424732"/>
              <a:gd name="connsiteX1" fmla="*/ 424732 w 425450"/>
              <a:gd name="connsiteY1" fmla="*/ 0 h 424732"/>
              <a:gd name="connsiteX2" fmla="*/ 425450 w 425450"/>
              <a:gd name="connsiteY2" fmla="*/ 238890 h 424732"/>
              <a:gd name="connsiteX3" fmla="*/ 424732 w 425450"/>
              <a:gd name="connsiteY3" fmla="*/ 424732 h 424732"/>
              <a:gd name="connsiteX4" fmla="*/ 0 w 425450"/>
              <a:gd name="connsiteY4" fmla="*/ 424732 h 424732"/>
              <a:gd name="connsiteX5" fmla="*/ 0 w 425450"/>
              <a:gd name="connsiteY5" fmla="*/ 0 h 424732"/>
              <a:gd name="connsiteX0" fmla="*/ 425450 w 516890"/>
              <a:gd name="connsiteY0" fmla="*/ 238890 h 424732"/>
              <a:gd name="connsiteX1" fmla="*/ 424732 w 516890"/>
              <a:gd name="connsiteY1" fmla="*/ 424732 h 424732"/>
              <a:gd name="connsiteX2" fmla="*/ 0 w 516890"/>
              <a:gd name="connsiteY2" fmla="*/ 424732 h 424732"/>
              <a:gd name="connsiteX3" fmla="*/ 0 w 516890"/>
              <a:gd name="connsiteY3" fmla="*/ 0 h 424732"/>
              <a:gd name="connsiteX4" fmla="*/ 424732 w 516890"/>
              <a:gd name="connsiteY4" fmla="*/ 0 h 424732"/>
              <a:gd name="connsiteX5" fmla="*/ 516890 w 516890"/>
              <a:gd name="connsiteY5" fmla="*/ 330330 h 424732"/>
              <a:gd name="connsiteX0" fmla="*/ 424732 w 516890"/>
              <a:gd name="connsiteY0" fmla="*/ 424732 h 424732"/>
              <a:gd name="connsiteX1" fmla="*/ 0 w 516890"/>
              <a:gd name="connsiteY1" fmla="*/ 424732 h 424732"/>
              <a:gd name="connsiteX2" fmla="*/ 0 w 516890"/>
              <a:gd name="connsiteY2" fmla="*/ 0 h 424732"/>
              <a:gd name="connsiteX3" fmla="*/ 424732 w 516890"/>
              <a:gd name="connsiteY3" fmla="*/ 0 h 424732"/>
              <a:gd name="connsiteX4" fmla="*/ 516890 w 516890"/>
              <a:gd name="connsiteY4" fmla="*/ 330330 h 424732"/>
              <a:gd name="connsiteX0" fmla="*/ 424732 w 424732"/>
              <a:gd name="connsiteY0" fmla="*/ 424732 h 424732"/>
              <a:gd name="connsiteX1" fmla="*/ 0 w 424732"/>
              <a:gd name="connsiteY1" fmla="*/ 424732 h 424732"/>
              <a:gd name="connsiteX2" fmla="*/ 0 w 424732"/>
              <a:gd name="connsiteY2" fmla="*/ 0 h 424732"/>
              <a:gd name="connsiteX3" fmla="*/ 424732 w 424732"/>
              <a:gd name="connsiteY3" fmla="*/ 0 h 424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732" h="424732">
                <a:moveTo>
                  <a:pt x="424732" y="424732"/>
                </a:moveTo>
                <a:lnTo>
                  <a:pt x="0" y="424732"/>
                </a:lnTo>
                <a:lnTo>
                  <a:pt x="0" y="0"/>
                </a:lnTo>
                <a:lnTo>
                  <a:pt x="424732" y="0"/>
                </a:lnTo>
              </a:path>
            </a:pathLst>
          </a:cu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>
              <a:latin typeface="ALS Sector Regular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E8EEF78-8EFF-47ED-8447-A3A1F67B89B9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20566" y="446017"/>
            <a:ext cx="2361600" cy="722882"/>
          </a:xfrm>
          <a:prstGeom prst="rect">
            <a:avLst/>
          </a:prstGeom>
        </p:spPr>
      </p:pic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20566" y="1301777"/>
            <a:ext cx="11350868" cy="4924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dirty="0"/>
              <a:t>Текст слайда</a:t>
            </a:r>
            <a:endParaRPr lang="en-US" sz="2300" dirty="0">
              <a:latin typeface="ALS Sector Regular" panose="02000000000000000000" pitchFamily="2" charset="0"/>
              <a:cs typeface="ALS Sector Regular" panose="02000000000000000000" pitchFamily="2" charset="0"/>
            </a:endParaRPr>
          </a:p>
          <a:p>
            <a:endParaRPr dirty="0"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68287" y="6360806"/>
            <a:ext cx="8381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+mj-lt"/>
                <a:ea typeface="Open Sans"/>
                <a:cs typeface="Open Sans"/>
                <a:sym typeface="Open Sans"/>
              </a:defRPr>
            </a:lvl1pPr>
            <a:lvl2pPr marL="0" marR="0" lvl="1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l" rtl="0">
              <a:spcBef>
                <a:spcPts val="0"/>
              </a:spcBef>
              <a:buNone/>
              <a:defRPr sz="2400" b="0" i="0" u="none" strike="noStrike" cap="none">
                <a:solidFill>
                  <a:srgbClr val="89898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8" r:id="rId3"/>
    <p:sldLayoutId id="2147483659" r:id="rId4"/>
    <p:sldLayoutId id="2147483661" r:id="rId5"/>
    <p:sldLayoutId id="2147483660" r:id="rId6"/>
    <p:sldLayoutId id="2147483662" r:id="rId7"/>
    <p:sldLayoutId id="2147483651" r:id="rId8"/>
  </p:sldLayoutIdLst>
  <mc:AlternateContent xmlns:mc="http://schemas.openxmlformats.org/markup-compatibility/2006" xmlns:p14="http://schemas.microsoft.com/office/powerpoint/2010/main">
    <mc:Choice Requires="p14">
      <p:transition spd="slow" p14:dur="2500">
        <p:checker dir="vert"/>
      </p:transition>
    </mc:Choice>
    <mc:Fallback xmlns="">
      <p:transition spd="slow">
        <p:checker dir="vert"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76200" marR="0" lvl="0" indent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2300" b="0" i="0" u="none" strike="noStrike" cap="none" baseline="0">
          <a:solidFill>
            <a:srgbClr val="000000"/>
          </a:solidFill>
          <a:latin typeface="+mn-lt"/>
          <a:ea typeface="ALS Sector Regular" panose="02000000000000000000" pitchFamily="2" charset="0"/>
          <a:cs typeface="ALS Sector Regular" panose="02000000000000000000" pitchFamily="2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aleV13/Galeproject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4598A-8D69-4EDC-8A16-7BF4EA847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188" y="1723936"/>
            <a:ext cx="11073623" cy="2231978"/>
          </a:xfrm>
        </p:spPr>
        <p:txBody>
          <a:bodyPr/>
          <a:lstStyle/>
          <a:p>
            <a:pPr indent="444500" algn="ctr">
              <a:lnSpc>
                <a:spcPct val="150000"/>
              </a:lnSpc>
            </a:pPr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Прогнозирование конечных свойств новых материалов </a:t>
            </a:r>
            <a:b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3200" b="1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(композиционных материалов)</a:t>
            </a:r>
            <a:endParaRPr lang="ru-RU" sz="3200" dirty="0">
              <a:latin typeface="+mj-lt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0C45695-17CA-4F1C-9AC0-19290977F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1195" y="4363657"/>
            <a:ext cx="9119010" cy="874168"/>
          </a:xfrm>
        </p:spPr>
        <p:txBody>
          <a:bodyPr/>
          <a:lstStyle/>
          <a:p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Васильева Г.Л.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0F8C6E-685B-4710-A969-68D917A8F992}"/>
              </a:ext>
            </a:extLst>
          </p:cNvPr>
          <p:cNvSpPr txBox="1"/>
          <p:nvPr/>
        </p:nvSpPr>
        <p:spPr>
          <a:xfrm>
            <a:off x="10739336" y="5940357"/>
            <a:ext cx="1147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3200" b="1" dirty="0">
                <a:solidFill>
                  <a:schemeClr val="bg1"/>
                </a:solidFill>
                <a:latin typeface="+mn-lt"/>
              </a:rPr>
              <a:t>2025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9280711C-2262-4089-92EE-9BEACCC60C4C}"/>
              </a:ext>
            </a:extLst>
          </p:cNvPr>
          <p:cNvGrpSpPr/>
          <p:nvPr/>
        </p:nvGrpSpPr>
        <p:grpSpPr>
          <a:xfrm>
            <a:off x="2951980" y="445028"/>
            <a:ext cx="7550920" cy="681861"/>
            <a:chOff x="1476753" y="3499669"/>
            <a:chExt cx="9965964" cy="681861"/>
          </a:xfrm>
        </p:grpSpPr>
        <p:sp>
          <p:nvSpPr>
            <p:cNvPr id="68" name="Прямоугольник 67">
              <a:extLst>
                <a:ext uri="{FF2B5EF4-FFF2-40B4-BE49-F238E27FC236}">
                  <a16:creationId xmlns:a16="http://schemas.microsoft.com/office/drawing/2014/main" id="{E2535886-3476-4B40-9706-6797B77905C0}"/>
                </a:ext>
              </a:extLst>
            </p:cNvPr>
            <p:cNvSpPr/>
            <p:nvPr/>
          </p:nvSpPr>
          <p:spPr>
            <a:xfrm>
              <a:off x="1476753" y="3499669"/>
              <a:ext cx="9965964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b="1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Candara" panose="020E0502030303020204" pitchFamily="34" charset="0"/>
                  <a:cs typeface="ALS Sector Bold" pitchFamily="2" charset="0"/>
                </a:rPr>
                <a:t>Цель, задачи, методология и структура исследовательского проекта</a:t>
              </a:r>
              <a:endParaRPr lang="ru-RU" sz="2400" b="1" spc="180" dirty="0">
                <a:latin typeface="Candara" panose="020E0502030303020204" pitchFamily="34" charset="0"/>
                <a:cs typeface="ALS Sector Bold" pitchFamily="2" charset="0"/>
              </a:endParaRPr>
            </a:p>
          </p:txBody>
        </p:sp>
        <p:sp>
          <p:nvSpPr>
            <p:cNvPr id="69" name="Прямоугольник 58">
              <a:extLst>
                <a:ext uri="{FF2B5EF4-FFF2-40B4-BE49-F238E27FC236}">
                  <a16:creationId xmlns:a16="http://schemas.microsoft.com/office/drawing/2014/main" id="{96789138-2397-49AA-BF3A-A6B5B90E8840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Candara" panose="020E0502030303020204" pitchFamily="34" charset="0"/>
              </a:endParaRPr>
            </a:p>
          </p:txBody>
        </p:sp>
        <p:sp>
          <p:nvSpPr>
            <p:cNvPr id="70" name="Прямоугольник 58">
              <a:extLst>
                <a:ext uri="{FF2B5EF4-FFF2-40B4-BE49-F238E27FC236}">
                  <a16:creationId xmlns:a16="http://schemas.microsoft.com/office/drawing/2014/main" id="{DA239952-60E1-45EB-BDF0-422CC4CF7E42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1237802" y="3515530"/>
              <a:ext cx="90048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555008-558A-4705-ADA6-A99A535D9A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</a:t>
            </a:fld>
            <a:endParaRPr lang="ru-RU" dirty="0"/>
          </a:p>
        </p:txBody>
      </p:sp>
      <p:sp>
        <p:nvSpPr>
          <p:cNvPr id="11" name="Google Shape;125;p4">
            <a:extLst>
              <a:ext uri="{FF2B5EF4-FFF2-40B4-BE49-F238E27FC236}">
                <a16:creationId xmlns:a16="http://schemas.microsoft.com/office/drawing/2014/main" id="{60669A83-F90E-4A4C-BA00-13CC73D4042F}"/>
              </a:ext>
            </a:extLst>
          </p:cNvPr>
          <p:cNvSpPr/>
          <p:nvPr/>
        </p:nvSpPr>
        <p:spPr>
          <a:xfrm>
            <a:off x="1404493" y="1348637"/>
            <a:ext cx="621790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ndara" panose="020E0502030303020204" pitchFamily="34" charset="0"/>
                <a:ea typeface="Open Sans"/>
                <a:cs typeface="ALS Sector Regular" panose="02000000000000000000" pitchFamily="2" charset="0"/>
              </a:rPr>
              <a:t>Цель работы </a:t>
            </a:r>
            <a:r>
              <a:rPr lang="ru-RU" sz="1600" b="1" dirty="0">
                <a:solidFill>
                  <a:srgbClr val="262626"/>
                </a:solidFill>
                <a:latin typeface="Candara" panose="020E0502030303020204" pitchFamily="34" charset="0"/>
                <a:ea typeface="Open Sans"/>
                <a:cs typeface="ALS Sector Regular" panose="02000000000000000000" pitchFamily="2" charset="0"/>
              </a:rPr>
              <a:t>- </a:t>
            </a:r>
            <a:r>
              <a:rPr lang="ru-RU" b="1" dirty="0">
                <a:solidFill>
                  <a:srgbClr val="262626"/>
                </a:solidFill>
                <a:latin typeface="Candara" panose="020E0502030303020204" pitchFamily="34" charset="0"/>
                <a:ea typeface="Open Sans"/>
                <a:cs typeface="ALS Sector Regular" panose="02000000000000000000" pitchFamily="2" charset="0"/>
              </a:rPr>
              <a:t>разработка моделей для прогнозирования прочностных характеристик композита на основе имеющихся данных о результатах испытаний и свойствах его компонентов.</a:t>
            </a:r>
            <a:endParaRPr dirty="0">
              <a:solidFill>
                <a:srgbClr val="262626"/>
              </a:solidFill>
              <a:latin typeface="Candara" panose="020E0502030303020204" pitchFamily="34" charset="0"/>
              <a:ea typeface="Open Sans"/>
              <a:cs typeface="ALS Sector Regular" panose="02000000000000000000" pitchFamily="2" charset="0"/>
              <a:sym typeface="Open Sans"/>
            </a:endParaRPr>
          </a:p>
        </p:txBody>
      </p:sp>
      <p:sp>
        <p:nvSpPr>
          <p:cNvPr id="34" name="Google Shape;149;p4">
            <a:extLst>
              <a:ext uri="{FF2B5EF4-FFF2-40B4-BE49-F238E27FC236}">
                <a16:creationId xmlns:a16="http://schemas.microsoft.com/office/drawing/2014/main" id="{E8524630-6F6B-4695-AB3F-DEBB05B7CD3C}"/>
              </a:ext>
            </a:extLst>
          </p:cNvPr>
          <p:cNvSpPr txBox="1"/>
          <p:nvPr/>
        </p:nvSpPr>
        <p:spPr>
          <a:xfrm>
            <a:off x="8449245" y="1348638"/>
            <a:ext cx="3559793" cy="4937862"/>
          </a:xfrm>
          <a:prstGeom prst="rect">
            <a:avLst/>
          </a:prstGeom>
          <a:solidFill>
            <a:srgbClr val="F1BE29"/>
          </a:solidFill>
          <a:ln>
            <a:noFill/>
          </a:ln>
        </p:spPr>
        <p:txBody>
          <a:bodyPr spcFirstLastPara="1" wrap="square" lIns="76725" tIns="38350" rIns="76725" bIns="38350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lang="ru-RU" sz="1600" b="1" dirty="0">
              <a:solidFill>
                <a:schemeClr val="lt1"/>
              </a:solidFill>
              <a:latin typeface="+mn-lt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ru-RU" sz="1600" b="1" dirty="0">
                <a:solidFill>
                  <a:schemeClr val="lt1"/>
                </a:solidFill>
                <a:latin typeface="Candara" panose="020E0502030303020204" pitchFamily="34" charset="0"/>
              </a:rPr>
              <a:t>Структура работы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lang="ru-RU" sz="1600" b="1" dirty="0">
              <a:solidFill>
                <a:schemeClr val="lt1"/>
              </a:solidFill>
              <a:latin typeface="+mn-lt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066B2AF8-B3BB-4E6C-B4EF-BA91A7149C6E}"/>
              </a:ext>
            </a:extLst>
          </p:cNvPr>
          <p:cNvGrpSpPr/>
          <p:nvPr/>
        </p:nvGrpSpPr>
        <p:grpSpPr>
          <a:xfrm>
            <a:off x="558782" y="2260680"/>
            <a:ext cx="450202" cy="1645197"/>
            <a:chOff x="623996" y="1592262"/>
            <a:chExt cx="333947" cy="508681"/>
          </a:xfrm>
        </p:grpSpPr>
        <p:cxnSp>
          <p:nvCxnSpPr>
            <p:cNvPr id="37" name="Google Shape;123;p4">
              <a:extLst>
                <a:ext uri="{FF2B5EF4-FFF2-40B4-BE49-F238E27FC236}">
                  <a16:creationId xmlns:a16="http://schemas.microsoft.com/office/drawing/2014/main" id="{B2BB743C-20D7-4E69-AAE1-54C42970370B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8" name="Google Shape;124;p4">
              <a:extLst>
                <a:ext uri="{FF2B5EF4-FFF2-40B4-BE49-F238E27FC236}">
                  <a16:creationId xmlns:a16="http://schemas.microsoft.com/office/drawing/2014/main" id="{A09E8948-234F-49EF-B8ED-B3C480E04917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39" name="Google Shape;126;p4">
              <a:extLst>
                <a:ext uri="{FF2B5EF4-FFF2-40B4-BE49-F238E27FC236}">
                  <a16:creationId xmlns:a16="http://schemas.microsoft.com/office/drawing/2014/main" id="{DE776E1C-0C20-43D2-8A38-628879EB82A4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A61F8772-5670-475E-90AF-084D02A24E45}"/>
              </a:ext>
            </a:extLst>
          </p:cNvPr>
          <p:cNvGrpSpPr/>
          <p:nvPr/>
        </p:nvGrpSpPr>
        <p:grpSpPr>
          <a:xfrm>
            <a:off x="558782" y="3980796"/>
            <a:ext cx="450202" cy="1583029"/>
            <a:chOff x="623996" y="1592262"/>
            <a:chExt cx="333947" cy="508681"/>
          </a:xfrm>
        </p:grpSpPr>
        <p:cxnSp>
          <p:nvCxnSpPr>
            <p:cNvPr id="41" name="Google Shape;123;p4">
              <a:extLst>
                <a:ext uri="{FF2B5EF4-FFF2-40B4-BE49-F238E27FC236}">
                  <a16:creationId xmlns:a16="http://schemas.microsoft.com/office/drawing/2014/main" id="{31FD4C9E-5F69-4810-A00B-E211610CB36A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2" name="Google Shape;124;p4">
              <a:extLst>
                <a:ext uri="{FF2B5EF4-FFF2-40B4-BE49-F238E27FC236}">
                  <a16:creationId xmlns:a16="http://schemas.microsoft.com/office/drawing/2014/main" id="{1B688AC3-F620-4E8E-B8F1-1B14FAE7C0C2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3" name="Google Shape;126;p4">
              <a:extLst>
                <a:ext uri="{FF2B5EF4-FFF2-40B4-BE49-F238E27FC236}">
                  <a16:creationId xmlns:a16="http://schemas.microsoft.com/office/drawing/2014/main" id="{87B9060E-A604-4528-B297-A9EBC00AAAD6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90E0740F-EFCD-41F2-8EB0-E752773D0AE6}"/>
              </a:ext>
            </a:extLst>
          </p:cNvPr>
          <p:cNvGrpSpPr/>
          <p:nvPr/>
        </p:nvGrpSpPr>
        <p:grpSpPr>
          <a:xfrm>
            <a:off x="577649" y="5708650"/>
            <a:ext cx="450202" cy="759705"/>
            <a:chOff x="623996" y="1592262"/>
            <a:chExt cx="333947" cy="508681"/>
          </a:xfrm>
        </p:grpSpPr>
        <p:cxnSp>
          <p:nvCxnSpPr>
            <p:cNvPr id="45" name="Google Shape;123;p4">
              <a:extLst>
                <a:ext uri="{FF2B5EF4-FFF2-40B4-BE49-F238E27FC236}">
                  <a16:creationId xmlns:a16="http://schemas.microsoft.com/office/drawing/2014/main" id="{5C8D2F6A-BB2A-49FD-B94C-250EB763B066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6" name="Google Shape;124;p4">
              <a:extLst>
                <a:ext uri="{FF2B5EF4-FFF2-40B4-BE49-F238E27FC236}">
                  <a16:creationId xmlns:a16="http://schemas.microsoft.com/office/drawing/2014/main" id="{EB043BAB-1826-41DB-A7FE-AAA09C039F9C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" name="Google Shape;126;p4">
              <a:extLst>
                <a:ext uri="{FF2B5EF4-FFF2-40B4-BE49-F238E27FC236}">
                  <a16:creationId xmlns:a16="http://schemas.microsoft.com/office/drawing/2014/main" id="{24ECB75A-09F9-43A5-8D25-D348344E60BF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52" name="Google Shape;125;p4">
            <a:extLst>
              <a:ext uri="{FF2B5EF4-FFF2-40B4-BE49-F238E27FC236}">
                <a16:creationId xmlns:a16="http://schemas.microsoft.com/office/drawing/2014/main" id="{B392D556-B476-4E1F-958C-31EE7B16300D}"/>
              </a:ext>
            </a:extLst>
          </p:cNvPr>
          <p:cNvSpPr/>
          <p:nvPr/>
        </p:nvSpPr>
        <p:spPr>
          <a:xfrm>
            <a:off x="1382604" y="2073702"/>
            <a:ext cx="6999396" cy="2000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ndara" panose="020E0502030303020204" pitchFamily="34" charset="0"/>
                <a:ea typeface="Open Sans"/>
                <a:cs typeface="ALS Sector Regular" panose="02000000000000000000" pitchFamily="2" charset="0"/>
              </a:rPr>
              <a:t>Задачи: 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200" b="1" dirty="0">
                <a:solidFill>
                  <a:srgbClr val="262626"/>
                </a:solidFill>
                <a:latin typeface="Candara" panose="020E0502030303020204" pitchFamily="34" charset="0"/>
                <a:ea typeface="Open Sans"/>
                <a:cs typeface="Times New Roman" panose="02020603050405020304" pitchFamily="18" charset="0"/>
              </a:rPr>
              <a:t>анализ исходной информации: значений показателей, характеризующих свойства композита и его компонентов;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200" b="1" kern="0" dirty="0">
                <a:effectLst/>
                <a:latin typeface="Candara" panose="020E05020303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предобработка данных, включая, при необходимости,  их очистку от выбросов, пропусков, нормализацию и стандартизацию;</a:t>
            </a: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sz="1200" b="1" dirty="0">
                <a:latin typeface="Candara" panose="020E0502030303020204" pitchFamily="34" charset="0"/>
                <a:cs typeface="Times New Roman" panose="02020603050405020304" pitchFamily="18" charset="0"/>
              </a:rPr>
              <a:t>поиск и оценка моделей машинного обучения, включая  нейросетевые, для создания на их основе прогнозов конечных свойств композитов;</a:t>
            </a:r>
          </a:p>
          <a:p>
            <a:pPr marL="171450" indent="-171450">
              <a:buFontTx/>
              <a:buChar char="-"/>
            </a:pPr>
            <a:r>
              <a:rPr lang="ru-RU" sz="1200" b="1" dirty="0">
                <a:latin typeface="Candara" panose="020E0502030303020204" pitchFamily="34" charset="0"/>
                <a:cs typeface="Times New Roman" panose="02020603050405020304" pitchFamily="18" charset="0"/>
              </a:rPr>
              <a:t>создание приложения с графическим интерфейсом или интерфейсом командной строки, которое будет выдавать прогноз, смоделированный ранее;</a:t>
            </a:r>
          </a:p>
          <a:p>
            <a:pPr marL="171450" indent="-171450">
              <a:buFontTx/>
              <a:buChar char="-"/>
            </a:pPr>
            <a:r>
              <a:rPr lang="ru-RU" sz="1200" b="1" dirty="0">
                <a:latin typeface="Candara" panose="020E0502030303020204" pitchFamily="34" charset="0"/>
                <a:cs typeface="Times New Roman" panose="02020603050405020304" pitchFamily="18" charset="0"/>
              </a:rPr>
              <a:t>создание репозитория в GitHub и размещение в нем файлов исследования. </a:t>
            </a:r>
            <a:endParaRPr lang="ru-RU" sz="1200" b="1" dirty="0">
              <a:latin typeface="Candara" panose="020E0502030303020204" pitchFamily="34" charset="0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53" name="Google Shape;127;p4">
            <a:extLst>
              <a:ext uri="{FF2B5EF4-FFF2-40B4-BE49-F238E27FC236}">
                <a16:creationId xmlns:a16="http://schemas.microsoft.com/office/drawing/2014/main" id="{BCF65B5B-0337-4C73-B9BB-A05F6916D064}"/>
              </a:ext>
            </a:extLst>
          </p:cNvPr>
          <p:cNvSpPr/>
          <p:nvPr/>
        </p:nvSpPr>
        <p:spPr>
          <a:xfrm>
            <a:off x="653437" y="2942838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2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4" name="Google Shape;125;p4">
            <a:extLst>
              <a:ext uri="{FF2B5EF4-FFF2-40B4-BE49-F238E27FC236}">
                <a16:creationId xmlns:a16="http://schemas.microsoft.com/office/drawing/2014/main" id="{4BBDCECC-7AC6-4E39-B4A9-A7C1308CD1E4}"/>
              </a:ext>
            </a:extLst>
          </p:cNvPr>
          <p:cNvSpPr/>
          <p:nvPr/>
        </p:nvSpPr>
        <p:spPr>
          <a:xfrm>
            <a:off x="1382598" y="4029642"/>
            <a:ext cx="6923201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tabLst>
                <a:tab pos="540385" algn="l"/>
                <a:tab pos="2250440" algn="l"/>
              </a:tabLst>
            </a:pPr>
            <a:r>
              <a:rPr lang="ru-RU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ndara" panose="020E0502030303020204" pitchFamily="34" charset="0"/>
                <a:ea typeface="Open Sans"/>
              </a:rPr>
              <a:t>Исходная информация: </a:t>
            </a:r>
            <a:r>
              <a:rPr lang="ru-RU" sz="1200" b="1" dirty="0">
                <a:latin typeface="Candara" panose="020E0502030303020204" pitchFamily="34" charset="0"/>
                <a:cs typeface="Times New Roman" panose="02020603050405020304" pitchFamily="18" charset="0"/>
              </a:rPr>
              <a:t>2 </a:t>
            </a:r>
            <a:r>
              <a:rPr lang="en-US" sz="1200" b="1" dirty="0">
                <a:latin typeface="Candara" panose="020E0502030303020204" pitchFamily="34" charset="0"/>
                <a:cs typeface="Times New Roman" panose="02020603050405020304" pitchFamily="18" charset="0"/>
              </a:rPr>
              <a:t>Excel </a:t>
            </a:r>
            <a:r>
              <a:rPr lang="ru-RU" sz="1200" b="1" dirty="0">
                <a:latin typeface="Candara" panose="020E0502030303020204" pitchFamily="34" charset="0"/>
                <a:cs typeface="Times New Roman" panose="02020603050405020304" pitchFamily="18" charset="0"/>
              </a:rPr>
              <a:t>таблицы</a:t>
            </a:r>
            <a:r>
              <a:rPr kumimoji="0" lang="ru-RU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ndara" panose="020E0502030303020204" pitchFamily="34" charset="0"/>
                <a:cs typeface="Times New Roman" panose="02020603050405020304" pitchFamily="18" charset="0"/>
                <a:sym typeface="Arial"/>
              </a:rPr>
              <a:t> со значениями показателей-характеристик физико-механических свойств композитов и их компонентов: </a:t>
            </a:r>
            <a:r>
              <a:rPr lang="ru-RU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X_bp.xlsx с размерностью 1024 строки, 11 столбцов</a:t>
            </a:r>
            <a:r>
              <a:rPr lang="ru-RU" sz="1200" b="1" dirty="0">
                <a:latin typeface="Candara" panose="020E0502030303020204" pitchFamily="34" charset="0"/>
                <a:cs typeface="Times New Roman" panose="02020603050405020304" pitchFamily="18" charset="0"/>
              </a:rPr>
              <a:t> («Соотношение матрица-наполнитель», «Плотность, кг/м3», «модуль упругости, Гпа»,  «Количество отвердителя, м.%», «Содержание эпоксидных групп,%_2», «Температура вспышки, С_2», «Поверхностная плотность, г/м2», «Модуль упругости при растяжении, Гпа», «Прочность при растяжении, Мпа», «Потребление смолы, г/м2»);</a:t>
            </a:r>
          </a:p>
          <a:p>
            <a:pPr lvl="0" algn="just">
              <a:tabLst>
                <a:tab pos="180340" algn="l"/>
                <a:tab pos="2250440" algn="l"/>
              </a:tabLst>
            </a:pPr>
            <a:r>
              <a:rPr lang="ru-RU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X_nup.xlsx с размерностью 1041 строка, 4 столбца </a:t>
            </a:r>
            <a:r>
              <a:rPr lang="ru-RU" sz="1200" b="1" dirty="0">
                <a:latin typeface="Candara" panose="020E0502030303020204" pitchFamily="34" charset="0"/>
                <a:cs typeface="Times New Roman" panose="02020603050405020304" pitchFamily="18" charset="0"/>
              </a:rPr>
              <a:t>(«Угол нашивки, град», «Шаг нашивки», «Плотность нашивки»).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200" b="1" dirty="0">
              <a:latin typeface="Times New Roman" panose="02020603050405020304" pitchFamily="18" charset="0"/>
              <a:cs typeface="Times New Roman" panose="02020603050405020304" pitchFamily="18" charset="0"/>
              <a:sym typeface="Open Sans"/>
            </a:endParaRPr>
          </a:p>
        </p:txBody>
      </p:sp>
      <p:sp>
        <p:nvSpPr>
          <p:cNvPr id="55" name="Google Shape;127;p4">
            <a:extLst>
              <a:ext uri="{FF2B5EF4-FFF2-40B4-BE49-F238E27FC236}">
                <a16:creationId xmlns:a16="http://schemas.microsoft.com/office/drawing/2014/main" id="{09A3BA78-83A5-439F-80AC-98893E52CA81}"/>
              </a:ext>
            </a:extLst>
          </p:cNvPr>
          <p:cNvSpPr/>
          <p:nvPr/>
        </p:nvSpPr>
        <p:spPr>
          <a:xfrm>
            <a:off x="665471" y="4720695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+mn-lt"/>
                <a:ea typeface="Arial"/>
                <a:cs typeface="Arial"/>
                <a:sym typeface="Arial"/>
              </a:rPr>
              <a:t>3</a:t>
            </a:r>
            <a:endParaRPr sz="3600" baseline="30000" dirty="0">
              <a:solidFill>
                <a:srgbClr val="065CAB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6" name="Google Shape;125;p4">
            <a:extLst>
              <a:ext uri="{FF2B5EF4-FFF2-40B4-BE49-F238E27FC236}">
                <a16:creationId xmlns:a16="http://schemas.microsoft.com/office/drawing/2014/main" id="{3DDF0676-49DA-46BC-9B49-E63651936BD7}"/>
              </a:ext>
            </a:extLst>
          </p:cNvPr>
          <p:cNvSpPr/>
          <p:nvPr/>
        </p:nvSpPr>
        <p:spPr>
          <a:xfrm>
            <a:off x="1401465" y="5760509"/>
            <a:ext cx="7277947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i="1" dirty="0">
                <a:solidFill>
                  <a:schemeClr val="tx2">
                    <a:lumMod val="75000"/>
                    <a:lumOff val="25000"/>
                  </a:schemeClr>
                </a:solidFill>
                <a:latin typeface="Candara" panose="020E0502030303020204" pitchFamily="34" charset="0"/>
                <a:ea typeface="Open Sans"/>
                <a:cs typeface="ALS Sector Regular" panose="02000000000000000000" pitchFamily="2" charset="0"/>
              </a:rPr>
              <a:t>Методология исследования</a:t>
            </a:r>
            <a:r>
              <a:rPr lang="ru-RU" sz="1200" b="1" dirty="0">
                <a:solidFill>
                  <a:srgbClr val="262626"/>
                </a:solidFill>
                <a:latin typeface="Candara" panose="020E0502030303020204" pitchFamily="34" charset="0"/>
                <a:ea typeface="Open Sans"/>
                <a:cs typeface="ALS Sector Regular" panose="02000000000000000000" pitchFamily="2" charset="0"/>
              </a:rPr>
              <a:t>: корреляционно-регрессионный анализ, описательная статистика, дерево решений, градиентный </a:t>
            </a:r>
            <a:r>
              <a:rPr lang="ru-RU" sz="1200" b="1" dirty="0" err="1">
                <a:solidFill>
                  <a:srgbClr val="262626"/>
                </a:solidFill>
                <a:latin typeface="Candara" panose="020E0502030303020204" pitchFamily="34" charset="0"/>
                <a:ea typeface="Open Sans"/>
                <a:cs typeface="ALS Sector Regular" panose="02000000000000000000" pitchFamily="2" charset="0"/>
              </a:rPr>
              <a:t>бустинг</a:t>
            </a:r>
            <a:r>
              <a:rPr lang="ru-RU" sz="1200" b="1" dirty="0">
                <a:solidFill>
                  <a:srgbClr val="262626"/>
                </a:solidFill>
                <a:latin typeface="Candara" panose="020E0502030303020204" pitchFamily="34" charset="0"/>
                <a:ea typeface="Open Sans"/>
                <a:cs typeface="ALS Sector Regular" panose="02000000000000000000" pitchFamily="2" charset="0"/>
              </a:rPr>
              <a:t>, </a:t>
            </a:r>
            <a:r>
              <a:rPr lang="ru-RU" sz="1200" b="1" i="0" dirty="0">
                <a:solidFill>
                  <a:srgbClr val="333333"/>
                </a:solidFill>
                <a:effectLst/>
                <a:latin typeface="Candara" panose="020E0502030303020204" pitchFamily="34" charset="0"/>
              </a:rPr>
              <a:t>метод </a:t>
            </a:r>
            <a:r>
              <a:rPr lang="en-US" sz="1200" b="1" i="0" dirty="0">
                <a:solidFill>
                  <a:srgbClr val="333333"/>
                </a:solidFill>
                <a:effectLst/>
                <a:latin typeface="Candara" panose="020E0502030303020204" pitchFamily="34" charset="0"/>
              </a:rPr>
              <a:t>K-</a:t>
            </a:r>
            <a:r>
              <a:rPr lang="ru-RU" sz="1200" b="1" i="0" dirty="0">
                <a:solidFill>
                  <a:srgbClr val="333333"/>
                </a:solidFill>
                <a:effectLst/>
                <a:latin typeface="Candara" panose="020E0502030303020204" pitchFamily="34" charset="0"/>
              </a:rPr>
              <a:t>ближайших соседей (</a:t>
            </a:r>
            <a:r>
              <a:rPr lang="en-US" sz="1200" b="1" i="0" dirty="0">
                <a:solidFill>
                  <a:srgbClr val="333333"/>
                </a:solidFill>
                <a:effectLst/>
                <a:latin typeface="Candara" panose="020E0502030303020204" pitchFamily="34" charset="0"/>
              </a:rPr>
              <a:t>KNN)</a:t>
            </a:r>
            <a:r>
              <a:rPr lang="ru-RU" sz="1200" b="1" i="0" dirty="0">
                <a:solidFill>
                  <a:srgbClr val="333333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lang="ru-RU" sz="1200" b="1" dirty="0" err="1">
                <a:solidFill>
                  <a:srgbClr val="262626"/>
                </a:solidFill>
                <a:latin typeface="Candara" panose="020E0502030303020204" pitchFamily="34" charset="0"/>
                <a:ea typeface="Open Sans"/>
                <a:cs typeface="ALS Sector Regular" panose="02000000000000000000" pitchFamily="2" charset="0"/>
              </a:rPr>
              <a:t>нейросетевое</a:t>
            </a:r>
            <a:r>
              <a:rPr lang="ru-RU" sz="1200" b="1" dirty="0">
                <a:solidFill>
                  <a:srgbClr val="262626"/>
                </a:solidFill>
                <a:latin typeface="Candara" panose="020E0502030303020204" pitchFamily="34" charset="0"/>
                <a:ea typeface="Open Sans"/>
                <a:cs typeface="ALS Sector Regular" panose="02000000000000000000" pitchFamily="2" charset="0"/>
              </a:rPr>
              <a:t> моделирование, графический анализ и другие.</a:t>
            </a:r>
          </a:p>
        </p:txBody>
      </p:sp>
      <p:sp>
        <p:nvSpPr>
          <p:cNvPr id="57" name="Google Shape;127;p4">
            <a:extLst>
              <a:ext uri="{FF2B5EF4-FFF2-40B4-BE49-F238E27FC236}">
                <a16:creationId xmlns:a16="http://schemas.microsoft.com/office/drawing/2014/main" id="{52BA7844-74CD-4A10-A920-4E6A0D827A2C}"/>
              </a:ext>
            </a:extLst>
          </p:cNvPr>
          <p:cNvSpPr/>
          <p:nvPr/>
        </p:nvSpPr>
        <p:spPr>
          <a:xfrm>
            <a:off x="641487" y="5972386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baseline="30000" dirty="0">
                <a:solidFill>
                  <a:srgbClr val="065CAB"/>
                </a:solidFill>
                <a:latin typeface="Candara" panose="020E0502030303020204" pitchFamily="34" charset="0"/>
                <a:sym typeface="Arial"/>
              </a:rPr>
              <a:t>4</a:t>
            </a:r>
            <a:endParaRPr sz="3600" baseline="30000" dirty="0">
              <a:solidFill>
                <a:srgbClr val="065CAB"/>
              </a:solidFill>
              <a:latin typeface="Candara" panose="020E0502030303020204" pitchFamily="34" charset="0"/>
              <a:sym typeface="Arial"/>
            </a:endParaRPr>
          </a:p>
        </p:txBody>
      </p: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CEB208F7-621F-4826-AC02-D9ACF56C2556}"/>
              </a:ext>
            </a:extLst>
          </p:cNvPr>
          <p:cNvGrpSpPr/>
          <p:nvPr/>
        </p:nvGrpSpPr>
        <p:grpSpPr>
          <a:xfrm>
            <a:off x="577649" y="1390454"/>
            <a:ext cx="450202" cy="685765"/>
            <a:chOff x="623996" y="1592262"/>
            <a:chExt cx="333947" cy="508681"/>
          </a:xfrm>
        </p:grpSpPr>
        <p:cxnSp>
          <p:nvCxnSpPr>
            <p:cNvPr id="61" name="Google Shape;123;p4">
              <a:extLst>
                <a:ext uri="{FF2B5EF4-FFF2-40B4-BE49-F238E27FC236}">
                  <a16:creationId xmlns:a16="http://schemas.microsoft.com/office/drawing/2014/main" id="{C80DFF66-7760-463A-A6E3-7A4A06739A6B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0" cy="508681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2" name="Google Shape;124;p4">
              <a:extLst>
                <a:ext uri="{FF2B5EF4-FFF2-40B4-BE49-F238E27FC236}">
                  <a16:creationId xmlns:a16="http://schemas.microsoft.com/office/drawing/2014/main" id="{537A8DBB-64CB-4C54-9816-C8AB9CEF9F83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1592262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3" name="Google Shape;126;p4">
              <a:extLst>
                <a:ext uri="{FF2B5EF4-FFF2-40B4-BE49-F238E27FC236}">
                  <a16:creationId xmlns:a16="http://schemas.microsoft.com/office/drawing/2014/main" id="{5EA94F71-5A4A-461B-84A6-89FA43FE7B61}"/>
                </a:ext>
              </a:extLst>
            </p:cNvPr>
            <p:cNvCxnSpPr>
              <a:cxnSpLocks/>
            </p:cNvCxnSpPr>
            <p:nvPr/>
          </p:nvCxnSpPr>
          <p:spPr>
            <a:xfrm>
              <a:off x="623996" y="2093005"/>
              <a:ext cx="333947" cy="0"/>
            </a:xfrm>
            <a:prstGeom prst="straightConnector1">
              <a:avLst/>
            </a:prstGeom>
            <a:noFill/>
            <a:ln w="28575" cap="flat" cmpd="sng">
              <a:solidFill>
                <a:srgbClr val="065CA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64" name="Google Shape;127;p4">
            <a:extLst>
              <a:ext uri="{FF2B5EF4-FFF2-40B4-BE49-F238E27FC236}">
                <a16:creationId xmlns:a16="http://schemas.microsoft.com/office/drawing/2014/main" id="{52F47E68-BBBA-4D50-92F9-0A84552519B8}"/>
              </a:ext>
            </a:extLst>
          </p:cNvPr>
          <p:cNvSpPr/>
          <p:nvPr/>
        </p:nvSpPr>
        <p:spPr>
          <a:xfrm>
            <a:off x="653437" y="1595516"/>
            <a:ext cx="107768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baseline="30000" dirty="0">
                <a:solidFill>
                  <a:srgbClr val="065CAB"/>
                </a:solidFill>
                <a:latin typeface="Candara" panose="020E0502030303020204" pitchFamily="34" charset="0"/>
                <a:sym typeface="Arial"/>
              </a:rPr>
              <a:t>1</a:t>
            </a:r>
            <a:endParaRPr sz="3600" baseline="30000" dirty="0">
              <a:solidFill>
                <a:srgbClr val="065CAB"/>
              </a:solidFill>
              <a:latin typeface="Candara" panose="020E0502030303020204" pitchFamily="34" charset="0"/>
              <a:sym typeface="Arial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FF347C5-253B-4D40-9091-2B87663C4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2367" y="1885291"/>
            <a:ext cx="3293547" cy="428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928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96CC3FE-49DC-4E57-BE64-FC71D0FE5E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73628" y="1135293"/>
            <a:ext cx="11350503" cy="600690"/>
          </a:xfrm>
        </p:spPr>
        <p:txBody>
          <a:bodyPr>
            <a:normAutofit/>
          </a:bodyPr>
          <a:lstStyle/>
          <a:p>
            <a:r>
              <a:rPr lang="ru-RU" sz="2600" b="1" dirty="0">
                <a:latin typeface="Candara" panose="020E0502030303020204" pitchFamily="34" charset="0"/>
              </a:rPr>
              <a:t>Датасет для исследования и его описательная статистика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A68FC8-8839-4BD0-A8B6-0C8B1924A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3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431A07B-4120-45A8-87F5-FD0B7543B02C}"/>
              </a:ext>
            </a:extLst>
          </p:cNvPr>
          <p:cNvGrpSpPr/>
          <p:nvPr/>
        </p:nvGrpSpPr>
        <p:grpSpPr>
          <a:xfrm>
            <a:off x="3701280" y="469293"/>
            <a:ext cx="5341120" cy="666000"/>
            <a:chOff x="1476753" y="3499669"/>
            <a:chExt cx="4619247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408C17F-C4A9-45C8-85FF-C29DBCECDC7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b="1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Candara" panose="020E0502030303020204" pitchFamily="34" charset="0"/>
                  <a:cs typeface="ALS Sector Bold" pitchFamily="2" charset="0"/>
                </a:rPr>
                <a:t>Разведочный анализ данных</a:t>
              </a:r>
              <a:endParaRPr lang="ru-RU" sz="2800" b="1" spc="180" dirty="0">
                <a:latin typeface="Candara" panose="020E0502030303020204" pitchFamily="34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8A2D04C4-68FF-4B8C-B3A7-621C55C3D8E2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ALS Sector Regular" panose="02000000000000000000" pitchFamily="2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9DDB7652-1549-4D3B-8E35-D14E582606C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ALS Sector Regular" panose="02000000000000000000" pitchFamily="2" charset="0"/>
              </a:endParaRPr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9AD78B-D114-4831-8F3D-28C696BA4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2" y="1725449"/>
            <a:ext cx="4638673" cy="351775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C9364B8-6FC4-4737-B83E-33D4FFF4A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850" y="1817653"/>
            <a:ext cx="4782608" cy="30289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879B69-83FC-43B9-BFF0-13113F451FDF}"/>
              </a:ext>
            </a:extLst>
          </p:cNvPr>
          <p:cNvSpPr txBox="1"/>
          <p:nvPr/>
        </p:nvSpPr>
        <p:spPr>
          <a:xfrm>
            <a:off x="481818" y="5334000"/>
            <a:ext cx="109341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ndara" panose="020E0502030303020204" pitchFamily="34" charset="0"/>
              </a:rPr>
              <a:t>Выводы:</a:t>
            </a:r>
          </a:p>
          <a:p>
            <a:r>
              <a:rPr lang="ru-RU" dirty="0">
                <a:solidFill>
                  <a:schemeClr val="tx1"/>
                </a:solidFill>
                <a:latin typeface="Candara" panose="020E0502030303020204" pitchFamily="34" charset="0"/>
              </a:rPr>
              <a:t>- показатель "угол нашивки" принимает в данной выборке только два варианта значений (0</a:t>
            </a:r>
            <a:r>
              <a:rPr lang="ru-RU" baseline="30000" dirty="0">
                <a:solidFill>
                  <a:schemeClr val="tx1"/>
                </a:solidFill>
                <a:latin typeface="Candara" panose="020E0502030303020204" pitchFamily="34" charset="0"/>
              </a:rPr>
              <a:t>0</a:t>
            </a:r>
            <a:r>
              <a:rPr lang="ru-RU" dirty="0">
                <a:solidFill>
                  <a:schemeClr val="tx1"/>
                </a:solidFill>
                <a:latin typeface="Candara" panose="020E0502030303020204" pitchFamily="34" charset="0"/>
              </a:rPr>
              <a:t> или 90</a:t>
            </a:r>
            <a:r>
              <a:rPr lang="ru-RU" baseline="30000" dirty="0">
                <a:solidFill>
                  <a:schemeClr val="tx1"/>
                </a:solidFill>
                <a:latin typeface="Candara" panose="020E0502030303020204" pitchFamily="34" charset="0"/>
              </a:rPr>
              <a:t>0</a:t>
            </a:r>
            <a:r>
              <a:rPr lang="ru-RU" dirty="0">
                <a:solidFill>
                  <a:schemeClr val="tx1"/>
                </a:solidFill>
                <a:latin typeface="Candara" panose="020E0502030303020204" pitchFamily="34" charset="0"/>
              </a:rPr>
              <a:t>); </a:t>
            </a:r>
          </a:p>
          <a:p>
            <a:r>
              <a:rPr lang="ru-RU" dirty="0">
                <a:solidFill>
                  <a:schemeClr val="tx1"/>
                </a:solidFill>
                <a:latin typeface="Candara" panose="020E0502030303020204" pitchFamily="34" charset="0"/>
              </a:rPr>
              <a:t>- в показателях "шаг нашивки" и "плотность нашивки" есть строки с нулевыми значениями;</a:t>
            </a:r>
          </a:p>
          <a:p>
            <a:r>
              <a:rPr lang="ru-RU" dirty="0">
                <a:solidFill>
                  <a:schemeClr val="tx1"/>
                </a:solidFill>
                <a:latin typeface="Candara" panose="020E0502030303020204" pitchFamily="34" charset="0"/>
              </a:rPr>
              <a:t>- ряд показателей имеют существенный размах значений и большое стандартное отклонение;</a:t>
            </a:r>
          </a:p>
          <a:p>
            <a:r>
              <a:rPr lang="ru-RU" dirty="0">
                <a:solidFill>
                  <a:schemeClr val="tx1"/>
                </a:solidFill>
                <a:latin typeface="Candara" panose="020E0502030303020204" pitchFamily="34" charset="0"/>
              </a:rPr>
              <a:t>- коэффициенты вариации больше 33% (0,33) свидетельствуют о высокой неоднородности информации и необходимости исключения аномалий (выбросов) или принадлежности части данных к другой группе объектов.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9AFC283-8AD1-406E-838A-2832CBF8CF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r="55133"/>
          <a:stretch/>
        </p:blipFill>
        <p:spPr>
          <a:xfrm>
            <a:off x="9622752" y="1817653"/>
            <a:ext cx="2448000" cy="256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525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96CC3FE-49DC-4E57-BE64-FC71D0FE5E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73628" y="1135293"/>
            <a:ext cx="11350503" cy="600690"/>
          </a:xfrm>
        </p:spPr>
        <p:txBody>
          <a:bodyPr>
            <a:normAutofit/>
          </a:bodyPr>
          <a:lstStyle/>
          <a:p>
            <a:r>
              <a:rPr lang="ru-RU" sz="2600" b="1" dirty="0"/>
              <a:t>Визуализация распределения значений показателей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A68FC8-8839-4BD0-A8B6-0C8B1924A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4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431A07B-4120-45A8-87F5-FD0B7543B02C}"/>
              </a:ext>
            </a:extLst>
          </p:cNvPr>
          <p:cNvGrpSpPr/>
          <p:nvPr/>
        </p:nvGrpSpPr>
        <p:grpSpPr>
          <a:xfrm>
            <a:off x="3091344" y="469293"/>
            <a:ext cx="5699242" cy="699446"/>
            <a:chOff x="1410561" y="3499669"/>
            <a:chExt cx="4928968" cy="699446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408C17F-C4A9-45C8-85FF-C29DBCECDC7D}"/>
                </a:ext>
              </a:extLst>
            </p:cNvPr>
            <p:cNvSpPr/>
            <p:nvPr/>
          </p:nvSpPr>
          <p:spPr>
            <a:xfrm>
              <a:off x="1410561" y="3533115"/>
              <a:ext cx="492896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b="1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Candara" panose="020E0502030303020204" pitchFamily="34" charset="0"/>
                  <a:cs typeface="ALS Sector Bold" pitchFamily="2" charset="0"/>
                </a:rPr>
                <a:t>Разведочный анализ данных</a:t>
              </a:r>
              <a:endParaRPr lang="ru-RU" sz="2800" b="1" spc="180" dirty="0">
                <a:latin typeface="Candara" panose="020E0502030303020204" pitchFamily="34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8A2D04C4-68FF-4B8C-B3A7-621C55C3D8E2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Candara" panose="020E0502030303020204" pitchFamily="34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9DDB7652-1549-4D3B-8E35-D14E582606C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249480" y="3511063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4879B69-83FC-43B9-BFF0-13113F451FDF}"/>
              </a:ext>
            </a:extLst>
          </p:cNvPr>
          <p:cNvSpPr txBox="1"/>
          <p:nvPr/>
        </p:nvSpPr>
        <p:spPr>
          <a:xfrm>
            <a:off x="421844" y="5688307"/>
            <a:ext cx="1163853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ndara" panose="020E0502030303020204" pitchFamily="34" charset="0"/>
              </a:rPr>
              <a:t>Выводы:</a:t>
            </a:r>
          </a:p>
          <a:p>
            <a:r>
              <a:rPr lang="ru-RU" dirty="0">
                <a:solidFill>
                  <a:schemeClr val="tx1"/>
                </a:solidFill>
                <a:latin typeface="Candara" panose="020E0502030303020204" pitchFamily="34" charset="0"/>
              </a:rPr>
              <a:t>Имеют место выбросы. Учитывая физико-механические свойства композитных материалов и используемых в них армирующих волокон, имеют место выбросы, прежде всего, в переменных «модуль упругости» и «поверхностная плотность», которые также демонстрируют асимметрию со смещением влево. Распределение значений части переменных датасета визуально близко к нормальному распределению.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29337D5-FDF9-48A2-81E0-D665DF747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28" y="1625634"/>
            <a:ext cx="5341121" cy="40970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84564AD-BF8C-421E-A17F-B535CED89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905" y="1623088"/>
            <a:ext cx="6029467" cy="430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64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896CC3FE-49DC-4E57-BE64-FC71D0FE5E3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73628" y="1059395"/>
            <a:ext cx="11350503" cy="600690"/>
          </a:xfrm>
        </p:spPr>
        <p:txBody>
          <a:bodyPr>
            <a:normAutofit/>
          </a:bodyPr>
          <a:lstStyle/>
          <a:p>
            <a:r>
              <a:rPr lang="ru-RU" sz="2400" b="1" dirty="0">
                <a:latin typeface="Candara" panose="020E0502030303020204" pitchFamily="34" charset="0"/>
              </a:rPr>
              <a:t>Корреляционный анализ, диаграммы рассеяния и тепловая карта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A68FC8-8839-4BD0-A8B6-0C8B1924A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</a:t>
            </a:fld>
            <a:endParaRPr lang="ru-RU" dirty="0"/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B431A07B-4120-45A8-87F5-FD0B7543B02C}"/>
              </a:ext>
            </a:extLst>
          </p:cNvPr>
          <p:cNvGrpSpPr/>
          <p:nvPr/>
        </p:nvGrpSpPr>
        <p:grpSpPr>
          <a:xfrm>
            <a:off x="4033789" y="392611"/>
            <a:ext cx="5341120" cy="666000"/>
            <a:chOff x="1476753" y="3499669"/>
            <a:chExt cx="4619247" cy="6660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408C17F-C4A9-45C8-85FF-C29DBCECDC7D}"/>
                </a:ext>
              </a:extLst>
            </p:cNvPr>
            <p:cNvSpPr/>
            <p:nvPr/>
          </p:nvSpPr>
          <p:spPr>
            <a:xfrm>
              <a:off x="1476753" y="3499669"/>
              <a:ext cx="4619247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b="1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Candara" panose="020E0502030303020204" pitchFamily="34" charset="0"/>
                  <a:cs typeface="ALS Sector Bold" pitchFamily="2" charset="0"/>
                </a:rPr>
                <a:t>Разведочный анализ данных</a:t>
              </a:r>
              <a:endParaRPr lang="ru-RU" sz="2800" b="1" spc="180" dirty="0">
                <a:latin typeface="Candara" panose="020E0502030303020204" pitchFamily="34" charset="0"/>
                <a:cs typeface="ALS Sector Bold" pitchFamily="2" charset="0"/>
              </a:endParaRPr>
            </a:p>
          </p:txBody>
        </p:sp>
        <p:sp>
          <p:nvSpPr>
            <p:cNvPr id="11" name="Прямоугольник 58">
              <a:extLst>
                <a:ext uri="{FF2B5EF4-FFF2-40B4-BE49-F238E27FC236}">
                  <a16:creationId xmlns:a16="http://schemas.microsoft.com/office/drawing/2014/main" id="{8A2D04C4-68FF-4B8C-B3A7-621C55C3D8E2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Candara" panose="020E0502030303020204" pitchFamily="34" charset="0"/>
              </a:endParaRPr>
            </a:p>
          </p:txBody>
        </p:sp>
        <p:sp>
          <p:nvSpPr>
            <p:cNvPr id="12" name="Прямоугольник 58">
              <a:extLst>
                <a:ext uri="{FF2B5EF4-FFF2-40B4-BE49-F238E27FC236}">
                  <a16:creationId xmlns:a16="http://schemas.microsoft.com/office/drawing/2014/main" id="{9DDB7652-1549-4D3B-8E35-D14E582606C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005951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4879B69-83FC-43B9-BFF0-13113F451FDF}"/>
              </a:ext>
            </a:extLst>
          </p:cNvPr>
          <p:cNvSpPr txBox="1"/>
          <p:nvPr/>
        </p:nvSpPr>
        <p:spPr>
          <a:xfrm>
            <a:off x="498044" y="5452224"/>
            <a:ext cx="1156233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ndara" panose="020E0502030303020204" pitchFamily="34" charset="0"/>
              </a:rPr>
              <a:t>Выводы:</a:t>
            </a:r>
          </a:p>
          <a:p>
            <a:r>
              <a:rPr lang="ru-RU" dirty="0">
                <a:solidFill>
                  <a:schemeClr val="tx1"/>
                </a:solidFill>
                <a:latin typeface="Candara" panose="020E0502030303020204" pitchFamily="34" charset="0"/>
              </a:rPr>
              <a:t>Значения коэффициентов корреляции в диапазоне от -0,075 до 0,105, свидетельствующие об отсутствии значимых линейных связей между переменными.</a:t>
            </a:r>
          </a:p>
          <a:p>
            <a:r>
              <a:rPr lang="ru-RU" dirty="0">
                <a:solidFill>
                  <a:schemeClr val="tx1"/>
                </a:solidFill>
                <a:latin typeface="Candara" panose="020E0502030303020204" pitchFamily="34" charset="0"/>
              </a:rPr>
              <a:t>В </a:t>
            </a:r>
            <a:r>
              <a:rPr lang="ru-RU" dirty="0" err="1">
                <a:solidFill>
                  <a:schemeClr val="tx1"/>
                </a:solidFill>
                <a:latin typeface="Candara" panose="020E0502030303020204" pitchFamily="34" charset="0"/>
              </a:rPr>
              <a:t>датасете</a:t>
            </a:r>
            <a:r>
              <a:rPr lang="ru-RU" dirty="0">
                <a:solidFill>
                  <a:schemeClr val="tx1"/>
                </a:solidFill>
                <a:latin typeface="Candara" panose="020E0502030303020204" pitchFamily="34" charset="0"/>
              </a:rPr>
              <a:t> представлены результативные признаки-зависимые переменные по условию задачи (модуль упругости при растяжении, прочность при растяжении) и независимые переменные-факторы разных порядков, часть из которых, в свою очередь, может выступать как зависимая переменная для факторов более низкого уровня.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E937DEB-7FFB-4883-9BF8-E158EB139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28" y="1551846"/>
            <a:ext cx="5227795" cy="387234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4994BEF-0815-4ACC-987D-425D19817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657" y="1627909"/>
            <a:ext cx="3937425" cy="372022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590B80C-AF40-49C3-8A3B-8F8A6F3070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114" y="2150998"/>
            <a:ext cx="3820268" cy="362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6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</a:t>
            </a:fld>
            <a:endParaRPr lang="ru-RU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273628" y="1291641"/>
            <a:ext cx="7119143" cy="60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sz="2600" b="1" dirty="0"/>
              <a:t>Очистка данных от выбросов методами:</a:t>
            </a: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8AC1BDB-9797-4A12-B4FC-ED5D4C2B9CD1}"/>
              </a:ext>
            </a:extLst>
          </p:cNvPr>
          <p:cNvGrpSpPr/>
          <p:nvPr/>
        </p:nvGrpSpPr>
        <p:grpSpPr>
          <a:xfrm>
            <a:off x="3167880" y="469293"/>
            <a:ext cx="4925730" cy="666000"/>
            <a:chOff x="1476753" y="3499669"/>
            <a:chExt cx="5932412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5870934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b="1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Candara" panose="020E0502030303020204" pitchFamily="34" charset="0"/>
                  <a:cs typeface="ALS Sector Bold" pitchFamily="2" charset="0"/>
                </a:rPr>
                <a:t>Предобработка данных</a:t>
              </a:r>
              <a:endParaRPr lang="ru-RU" sz="2800" b="1" spc="180" dirty="0">
                <a:latin typeface="Candara" panose="020E0502030303020204" pitchFamily="34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Candara" panose="020E0502030303020204" pitchFamily="34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19116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Candara" panose="020E0502030303020204" pitchFamily="34" charset="0"/>
              </a:endParaRPr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F1E05CF-BF79-4331-9B07-CFC322BA2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25" y="1864649"/>
            <a:ext cx="5183365" cy="45417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50DAA80-44E7-42A1-B5A7-7127320B7FCA}"/>
              </a:ext>
            </a:extLst>
          </p:cNvPr>
          <p:cNvSpPr txBox="1"/>
          <p:nvPr/>
        </p:nvSpPr>
        <p:spPr>
          <a:xfrm>
            <a:off x="6927273" y="1770497"/>
            <a:ext cx="480752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Удаление из полученного очищенного на 1 шаге датасета крайне низких значений поверхностной плотности за пределами реальных физических характеристик материалов (значения показателя поверхностной плотности менее 12 г/м2) с сокращением, таким образом, выборки до 926 строк со следующей описательной статистикой: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3A7137-D593-4801-A491-9EE8FB062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770" y="3293658"/>
            <a:ext cx="5633303" cy="33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71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</a:t>
            </a:fld>
            <a:endParaRPr lang="ru-RU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273628" y="1223607"/>
            <a:ext cx="6792190" cy="50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ru-RU" sz="5100" b="1" dirty="0">
                <a:latin typeface="Candara" panose="020E0502030303020204" pitchFamily="34" charset="0"/>
              </a:rPr>
              <a:t>Нормализация данных</a:t>
            </a:r>
          </a:p>
          <a:p>
            <a:endParaRPr lang="ru-RU" sz="2600" b="1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8AC1BDB-9797-4A12-B4FC-ED5D4C2B9CD1}"/>
              </a:ext>
            </a:extLst>
          </p:cNvPr>
          <p:cNvGrpSpPr/>
          <p:nvPr/>
        </p:nvGrpSpPr>
        <p:grpSpPr>
          <a:xfrm>
            <a:off x="3167880" y="469293"/>
            <a:ext cx="4925730" cy="666000"/>
            <a:chOff x="1476753" y="3499669"/>
            <a:chExt cx="5932412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5870934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b="1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Candara" panose="020E0502030303020204" pitchFamily="34" charset="0"/>
                  <a:cs typeface="ALS Sector Bold" pitchFamily="2" charset="0"/>
                </a:rPr>
                <a:t>Предобработка данных</a:t>
              </a:r>
              <a:endParaRPr lang="ru-RU" sz="2800" b="1" spc="180" dirty="0">
                <a:latin typeface="Candara" panose="020E0502030303020204" pitchFamily="34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Candara" panose="020E0502030303020204" pitchFamily="34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19116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Candara" panose="020E0502030303020204" pitchFamily="34" charset="0"/>
              </a:endParaRPr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EA6766-8555-4DD9-A414-CB7CC6187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55" y="1636748"/>
            <a:ext cx="5690753" cy="358450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B1197FC-CC67-42A9-97C0-D9144F8A6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137" y="1173229"/>
            <a:ext cx="4442081" cy="448999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91C0D2C-FC58-40A9-BEE4-BC4C3D05C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0414" y="5663220"/>
            <a:ext cx="5451763" cy="11439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B8DE98C-181F-4D96-A241-40C2799BA546}"/>
              </a:ext>
            </a:extLst>
          </p:cNvPr>
          <p:cNvSpPr txBox="1"/>
          <p:nvPr/>
        </p:nvSpPr>
        <p:spPr>
          <a:xfrm>
            <a:off x="558782" y="5431501"/>
            <a:ext cx="32998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b="1" dirty="0">
                <a:solidFill>
                  <a:schemeClr val="bg2">
                    <a:lumMod val="50000"/>
                  </a:schemeClr>
                </a:solidFill>
                <a:latin typeface="Candara" panose="020E0502030303020204" pitchFamily="34" charset="0"/>
              </a:rPr>
              <a:t>Нормализация данных </a:t>
            </a:r>
            <a:r>
              <a:rPr lang="en-US" sz="1600" dirty="0" err="1">
                <a:latin typeface="Candara" panose="020E0502030303020204" pitchFamily="34" charset="0"/>
              </a:rPr>
              <a:t>MinMaxScaler</a:t>
            </a:r>
            <a:r>
              <a:rPr lang="ru-RU" sz="1600" dirty="0">
                <a:latin typeface="Candara" panose="020E0502030303020204" pitchFamily="34" charset="0"/>
              </a:rPr>
              <a:t> для использования нормализованных значений независимых переменных в моделях машинного обучения</a:t>
            </a:r>
            <a:r>
              <a:rPr lang="en-US" sz="1600" dirty="0">
                <a:latin typeface="Candara" panose="020E0502030303020204" pitchFamily="34" charset="0"/>
              </a:rPr>
              <a:t> </a:t>
            </a:r>
            <a:endParaRPr lang="ru-RU" sz="16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47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8</a:t>
            </a:fld>
            <a:endParaRPr lang="ru-RU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273628" y="1168441"/>
            <a:ext cx="11717334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228600" indent="0"/>
            <a:r>
              <a:rPr lang="ru-RU" sz="5100" b="1" dirty="0">
                <a:latin typeface="Candara" panose="020E0502030303020204" pitchFamily="34" charset="0"/>
              </a:rPr>
              <a:t>1. Разработка, обучение и тестирование моделей прогнозирования </a:t>
            </a:r>
            <a:r>
              <a:rPr lang="ru-RU" sz="5100" b="1" u="sng" dirty="0">
                <a:solidFill>
                  <a:schemeClr val="tx1"/>
                </a:solidFill>
                <a:latin typeface="Candara" panose="020E0502030303020204" pitchFamily="34" charset="0"/>
              </a:rPr>
              <a:t>модуля упругости при растяжении</a:t>
            </a: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8AC1BDB-9797-4A12-B4FC-ED5D4C2B9CD1}"/>
              </a:ext>
            </a:extLst>
          </p:cNvPr>
          <p:cNvGrpSpPr/>
          <p:nvPr/>
        </p:nvGrpSpPr>
        <p:grpSpPr>
          <a:xfrm>
            <a:off x="3161393" y="334830"/>
            <a:ext cx="8174571" cy="666000"/>
            <a:chOff x="1476753" y="3499669"/>
            <a:chExt cx="5932412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5870934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b="1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Candara" panose="020E0502030303020204" pitchFamily="34" charset="0"/>
                  <a:cs typeface="ALS Sector Bold" pitchFamily="2" charset="0"/>
                </a:rPr>
                <a:t>Разработка моделей прогнозирования значений целевых переменных</a:t>
              </a:r>
              <a:endParaRPr lang="ru-RU" sz="2400" b="1" spc="180" dirty="0">
                <a:latin typeface="Candara" panose="020E0502030303020204" pitchFamily="34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Candara" panose="020E0502030303020204" pitchFamily="34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19116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B243442-978D-4BD7-8880-9FE94FC488F1}"/>
              </a:ext>
            </a:extLst>
          </p:cNvPr>
          <p:cNvSpPr txBox="1"/>
          <p:nvPr/>
        </p:nvSpPr>
        <p:spPr>
          <a:xfrm>
            <a:off x="439043" y="1715449"/>
            <a:ext cx="518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800" b="1" dirty="0">
                <a:solidFill>
                  <a:schemeClr val="tx1"/>
                </a:solidFill>
                <a:latin typeface="Candara" panose="020E0502030303020204" pitchFamily="34" charset="0"/>
              </a:rPr>
              <a:t>1.1 Моделирование с включением всего перечня переменных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02517C1-0E07-4C61-AFB5-5BB169F9C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22" y="2447100"/>
            <a:ext cx="4365114" cy="110956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2AC82D1-C545-4580-ADDF-0ED15809E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82" y="3572708"/>
            <a:ext cx="4783544" cy="306289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DBA8160-2DF1-4C12-9F13-3E9833BB60DA}"/>
              </a:ext>
            </a:extLst>
          </p:cNvPr>
          <p:cNvSpPr txBox="1"/>
          <p:nvPr/>
        </p:nvSpPr>
        <p:spPr>
          <a:xfrm>
            <a:off x="6421553" y="1535888"/>
            <a:ext cx="5496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800" b="1" dirty="0">
                <a:solidFill>
                  <a:schemeClr val="tx1"/>
                </a:solidFill>
                <a:latin typeface="Candara" panose="020E0502030303020204" pitchFamily="34" charset="0"/>
              </a:rPr>
              <a:t>1.2 Моделирование с включением 6 переменных с наибольшим влиянием на целевой показатель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FC2E451-29B9-4EEE-962B-6BC25DE40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5897" y="2129996"/>
            <a:ext cx="4071572" cy="103775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3CEF7DD-6708-4837-819F-D58E360124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0644" y="3167750"/>
            <a:ext cx="2440147" cy="157900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BA2CDA1-6855-4A87-8536-54B109972B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5010" y="3140174"/>
            <a:ext cx="4278399" cy="356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419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</a:t>
            </a:fld>
            <a:endParaRPr lang="ru-RU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350196" y="1168441"/>
            <a:ext cx="11770468" cy="74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228600" indent="0"/>
            <a:r>
              <a:rPr lang="ru-RU" sz="5100" b="1" dirty="0">
                <a:latin typeface="Candara" panose="020E0502030303020204" pitchFamily="34" charset="0"/>
              </a:rPr>
              <a:t>1. Разработка, обучение и тестирование моделей прогнозирования </a:t>
            </a:r>
            <a:r>
              <a:rPr lang="ru-RU" sz="5100" b="1" u="sng" dirty="0">
                <a:solidFill>
                  <a:schemeClr val="tx1"/>
                </a:solidFill>
                <a:latin typeface="Candara" panose="020E0502030303020204" pitchFamily="34" charset="0"/>
              </a:rPr>
              <a:t>модуля упругости при     </a:t>
            </a:r>
          </a:p>
          <a:p>
            <a:pPr marL="228600" indent="0"/>
            <a:r>
              <a:rPr lang="ru-RU" sz="5100" b="1" u="sng" dirty="0">
                <a:solidFill>
                  <a:schemeClr val="tx1"/>
                </a:solidFill>
                <a:latin typeface="Candara" panose="020E0502030303020204" pitchFamily="34" charset="0"/>
              </a:rPr>
              <a:t>растяжении</a:t>
            </a: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8AC1BDB-9797-4A12-B4FC-ED5D4C2B9CD1}"/>
              </a:ext>
            </a:extLst>
          </p:cNvPr>
          <p:cNvGrpSpPr/>
          <p:nvPr/>
        </p:nvGrpSpPr>
        <p:grpSpPr>
          <a:xfrm>
            <a:off x="3161393" y="334830"/>
            <a:ext cx="8174571" cy="666000"/>
            <a:chOff x="1476753" y="3499669"/>
            <a:chExt cx="5932412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5870934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b="1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Candara" panose="020E0502030303020204" pitchFamily="34" charset="0"/>
                  <a:cs typeface="ALS Sector Bold" pitchFamily="2" charset="0"/>
                </a:rPr>
                <a:t>Разработка моделей прогнозирования значений целевых переменных</a:t>
              </a:r>
              <a:endParaRPr lang="ru-RU" sz="2400" b="1" spc="180" dirty="0">
                <a:latin typeface="Candara" panose="020E0502030303020204" pitchFamily="34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Candara" panose="020E0502030303020204" pitchFamily="34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19116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B243442-978D-4BD7-8880-9FE94FC488F1}"/>
              </a:ext>
            </a:extLst>
          </p:cNvPr>
          <p:cNvSpPr txBox="1"/>
          <p:nvPr/>
        </p:nvSpPr>
        <p:spPr>
          <a:xfrm>
            <a:off x="439043" y="2014068"/>
            <a:ext cx="518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800" b="1" dirty="0">
                <a:solidFill>
                  <a:schemeClr val="tx1"/>
                </a:solidFill>
                <a:latin typeface="Candara" panose="020E0502030303020204" pitchFamily="34" charset="0"/>
              </a:rPr>
              <a:t>1.3 Моделирование на основе нейронной сети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BC41A59-F6BD-4F75-8E33-355859654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43" y="2480895"/>
            <a:ext cx="5968242" cy="377723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C363FF-D686-417C-A481-C232E8E3B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115" y="2198734"/>
            <a:ext cx="4877223" cy="307835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F3390C9-BC05-4E13-AD84-C466DA70AA19}"/>
              </a:ext>
            </a:extLst>
          </p:cNvPr>
          <p:cNvSpPr txBox="1"/>
          <p:nvPr/>
        </p:nvSpPr>
        <p:spPr>
          <a:xfrm>
            <a:off x="6789905" y="5641766"/>
            <a:ext cx="50908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Остановка на 40 эпохе с показателями: </a:t>
            </a:r>
            <a:r>
              <a:rPr lang="en-US" sz="1200" dirty="0"/>
              <a:t>r2_score: -0.0336 - </a:t>
            </a:r>
            <a:r>
              <a:rPr lang="en-US" sz="1200" dirty="0" err="1"/>
              <a:t>val_loss</a:t>
            </a:r>
            <a:r>
              <a:rPr lang="en-US" sz="1200" dirty="0"/>
              <a:t>: 12.1435 - val_r2_score: -0.2733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740035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10</a:t>
            </a:fld>
            <a:endParaRPr lang="ru-RU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273628" y="1168441"/>
            <a:ext cx="11717334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228600" indent="0"/>
            <a:r>
              <a:rPr lang="ru-RU" sz="5100" b="1" dirty="0">
                <a:latin typeface="Candara" panose="020E0502030303020204" pitchFamily="34" charset="0"/>
              </a:rPr>
              <a:t>1. Разработка, обучение и тестирование моделей прогнозирования </a:t>
            </a:r>
            <a:r>
              <a:rPr lang="ru-RU" sz="5100" b="1" u="sng" dirty="0">
                <a:solidFill>
                  <a:schemeClr val="tx1"/>
                </a:solidFill>
                <a:latin typeface="Candara" panose="020E0502030303020204" pitchFamily="34" charset="0"/>
              </a:rPr>
              <a:t>прочности при растяжении</a:t>
            </a: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8AC1BDB-9797-4A12-B4FC-ED5D4C2B9CD1}"/>
              </a:ext>
            </a:extLst>
          </p:cNvPr>
          <p:cNvGrpSpPr/>
          <p:nvPr/>
        </p:nvGrpSpPr>
        <p:grpSpPr>
          <a:xfrm>
            <a:off x="3161393" y="334830"/>
            <a:ext cx="8174571" cy="666000"/>
            <a:chOff x="1476753" y="3499669"/>
            <a:chExt cx="5932412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5870934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b="1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Candara" panose="020E0502030303020204" pitchFamily="34" charset="0"/>
                  <a:cs typeface="ALS Sector Bold" pitchFamily="2" charset="0"/>
                </a:rPr>
                <a:t>Разработка моделей прогнозирования значений целевых переменных</a:t>
              </a:r>
              <a:endParaRPr lang="ru-RU" sz="2400" b="1" spc="180" dirty="0">
                <a:latin typeface="Candara" panose="020E0502030303020204" pitchFamily="34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Candara" panose="020E0502030303020204" pitchFamily="34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19116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B243442-978D-4BD7-8880-9FE94FC488F1}"/>
              </a:ext>
            </a:extLst>
          </p:cNvPr>
          <p:cNvSpPr txBox="1"/>
          <p:nvPr/>
        </p:nvSpPr>
        <p:spPr>
          <a:xfrm>
            <a:off x="371082" y="1620474"/>
            <a:ext cx="5181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800" b="1" dirty="0">
                <a:solidFill>
                  <a:schemeClr val="tx1"/>
                </a:solidFill>
                <a:latin typeface="Candara" panose="020E0502030303020204" pitchFamily="34" charset="0"/>
              </a:rPr>
              <a:t>1.1 Моделирование с включением всего перечня переменных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BA8160-2DF1-4C12-9F13-3E9833BB60DA}"/>
              </a:ext>
            </a:extLst>
          </p:cNvPr>
          <p:cNvSpPr txBox="1"/>
          <p:nvPr/>
        </p:nvSpPr>
        <p:spPr>
          <a:xfrm>
            <a:off x="6421553" y="1595325"/>
            <a:ext cx="54968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800" b="1" dirty="0">
                <a:solidFill>
                  <a:schemeClr val="tx1"/>
                </a:solidFill>
                <a:latin typeface="Candara" panose="020E0502030303020204" pitchFamily="34" charset="0"/>
              </a:rPr>
              <a:t>1.2 Моделирование с включением 6 переменных с наибольшим влиянием на целевой показатель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0C3C6EE-A700-4506-8F74-88AA1D7DA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082" y="2440694"/>
            <a:ext cx="4281274" cy="14763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4065EA-1CB7-4D57-9A20-8D287A87E237}"/>
              </a:ext>
            </a:extLst>
          </p:cNvPr>
          <p:cNvSpPr txBox="1"/>
          <p:nvPr/>
        </p:nvSpPr>
        <p:spPr>
          <a:xfrm>
            <a:off x="371082" y="4394163"/>
            <a:ext cx="373542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dirty="0">
                <a:latin typeface="+mn-lt"/>
              </a:rPr>
              <a:t>В результате использования моделей линейной регрессии, «случайного леса», «дерева решений», полинома 2 степени, К-ближайших соседей получены низкие значения </a:t>
            </a:r>
            <a:r>
              <a:rPr lang="en-US" dirty="0">
                <a:latin typeface="+mn-lt"/>
              </a:rPr>
              <a:t>R2</a:t>
            </a:r>
            <a:endParaRPr lang="ru-RU" dirty="0">
              <a:latin typeface="+mn-lt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F56C7BF-7CF9-4286-A718-C07CA1638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934" y="2182219"/>
            <a:ext cx="4156223" cy="2458012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BB6F03C-96C6-4761-BCB1-963D14FF8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439" y="3099880"/>
            <a:ext cx="4522933" cy="375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6788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11</a:t>
            </a:fld>
            <a:endParaRPr lang="ru-RU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273628" y="1168441"/>
            <a:ext cx="11717334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228600" indent="0"/>
            <a:r>
              <a:rPr lang="ru-RU" sz="5100" b="1" dirty="0">
                <a:latin typeface="Candara" panose="020E0502030303020204" pitchFamily="34" charset="0"/>
              </a:rPr>
              <a:t>1. Разработка, обучение и тестирование моделей прогнозирования </a:t>
            </a:r>
            <a:r>
              <a:rPr lang="ru-RU" sz="5100" b="1" u="sng" dirty="0">
                <a:solidFill>
                  <a:schemeClr val="tx1"/>
                </a:solidFill>
                <a:latin typeface="Candara" panose="020E0502030303020204" pitchFamily="34" charset="0"/>
              </a:rPr>
              <a:t>прочности при растяжении</a:t>
            </a: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8AC1BDB-9797-4A12-B4FC-ED5D4C2B9CD1}"/>
              </a:ext>
            </a:extLst>
          </p:cNvPr>
          <p:cNvGrpSpPr/>
          <p:nvPr/>
        </p:nvGrpSpPr>
        <p:grpSpPr>
          <a:xfrm>
            <a:off x="3161393" y="334830"/>
            <a:ext cx="8174571" cy="666000"/>
            <a:chOff x="1476753" y="3499669"/>
            <a:chExt cx="5932412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5870934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b="1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Candara" panose="020E0502030303020204" pitchFamily="34" charset="0"/>
                  <a:cs typeface="ALS Sector Bold" pitchFamily="2" charset="0"/>
                </a:rPr>
                <a:t>Разработка моделей прогнозирования значений целевых переменных</a:t>
              </a:r>
              <a:endParaRPr lang="ru-RU" sz="2400" b="1" spc="180" dirty="0">
                <a:latin typeface="Candara" panose="020E0502030303020204" pitchFamily="34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Candara" panose="020E0502030303020204" pitchFamily="34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19116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B243442-978D-4BD7-8880-9FE94FC488F1}"/>
              </a:ext>
            </a:extLst>
          </p:cNvPr>
          <p:cNvSpPr txBox="1"/>
          <p:nvPr/>
        </p:nvSpPr>
        <p:spPr>
          <a:xfrm>
            <a:off x="439043" y="1715449"/>
            <a:ext cx="518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800" b="1" dirty="0">
                <a:solidFill>
                  <a:schemeClr val="tx1"/>
                </a:solidFill>
                <a:latin typeface="Candara" panose="020E0502030303020204" pitchFamily="34" charset="0"/>
              </a:rPr>
              <a:t>1.3 Моделирование на основе нейронной сети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3390C9-BC05-4E13-AD84-C466DA70AA19}"/>
              </a:ext>
            </a:extLst>
          </p:cNvPr>
          <p:cNvSpPr txBox="1"/>
          <p:nvPr/>
        </p:nvSpPr>
        <p:spPr>
          <a:xfrm>
            <a:off x="6757479" y="5051621"/>
            <a:ext cx="50908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Остановка на 25 эпохе с показателями: 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r2_score: -1.5666 -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val_loss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: 2007042.8750 - val_r2_score: -7.3677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12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43E3ED5-21F5-4715-92DA-525229C95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82" y="2153055"/>
            <a:ext cx="6026349" cy="394943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D35D45E-26D2-4887-90FF-3FD96BAA7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79" y="1834441"/>
            <a:ext cx="4578485" cy="285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32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12</a:t>
            </a:fld>
            <a:endParaRPr lang="ru-RU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273628" y="1265718"/>
            <a:ext cx="11717334" cy="6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228600" indent="0"/>
            <a:r>
              <a:rPr lang="ru-RU" sz="2800" b="1" dirty="0">
                <a:latin typeface="Candara" panose="020E0502030303020204" pitchFamily="34" charset="0"/>
              </a:rPr>
              <a:t>1. </a:t>
            </a:r>
            <a:r>
              <a:rPr lang="ru-RU" sz="2800" b="1" dirty="0"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Создание нейронной сети для рекомендации </a:t>
            </a:r>
            <a:r>
              <a:rPr lang="ru-RU" sz="2800" b="1" u="sng" dirty="0">
                <a:solidFill>
                  <a:schemeClr val="tx1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соотношения «матрица–наполнитель»</a:t>
            </a:r>
            <a:endParaRPr lang="ru-RU" sz="2800" u="sng" dirty="0">
              <a:solidFill>
                <a:schemeClr val="tx1"/>
              </a:solidFill>
              <a:effectLst/>
              <a:latin typeface="Candara" panose="020E0502030303020204" pitchFamily="34" charset="0"/>
              <a:ea typeface="Times New Roman" panose="02020603050405020304" pitchFamily="18" charset="0"/>
            </a:endParaRPr>
          </a:p>
          <a:p>
            <a:pPr marL="228600" indent="0"/>
            <a:endParaRPr lang="ru-RU" sz="5100" b="1" u="sng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8AC1BDB-9797-4A12-B4FC-ED5D4C2B9CD1}"/>
              </a:ext>
            </a:extLst>
          </p:cNvPr>
          <p:cNvGrpSpPr/>
          <p:nvPr/>
        </p:nvGrpSpPr>
        <p:grpSpPr>
          <a:xfrm>
            <a:off x="3161393" y="334830"/>
            <a:ext cx="8174571" cy="666000"/>
            <a:chOff x="1476753" y="3499669"/>
            <a:chExt cx="5932412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5870934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b="1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Candara" panose="020E0502030303020204" pitchFamily="34" charset="0"/>
                  <a:cs typeface="ALS Sector Bold" pitchFamily="2" charset="0"/>
                </a:rPr>
                <a:t>Разработка моделей прогнозирования значений целевых переменных</a:t>
              </a:r>
              <a:endParaRPr lang="ru-RU" sz="2400" b="1" spc="180" dirty="0">
                <a:latin typeface="Candara" panose="020E0502030303020204" pitchFamily="34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Candara" panose="020E0502030303020204" pitchFamily="34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19116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Candara" panose="020E0502030303020204" pitchFamily="34" charset="0"/>
              </a:endParaRPr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5EB7855-8C60-4452-9A75-F5B1AEA1F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97" y="1958998"/>
            <a:ext cx="5602069" cy="4376951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CF16CE-3A24-46CA-85BA-30EB64155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005" y="1965686"/>
            <a:ext cx="4499596" cy="292662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950EE55-CE3C-46C3-B4DF-804E34A6E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033" y="5029402"/>
            <a:ext cx="4429125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6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13</a:t>
            </a:fld>
            <a:endParaRPr lang="ru-RU" dirty="0"/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id="{5A8999A3-76FB-4548-86BA-DAD9E574E770}"/>
              </a:ext>
            </a:extLst>
          </p:cNvPr>
          <p:cNvSpPr txBox="1">
            <a:spLocks/>
          </p:cNvSpPr>
          <p:nvPr/>
        </p:nvSpPr>
        <p:spPr>
          <a:xfrm>
            <a:off x="273628" y="1171424"/>
            <a:ext cx="7392016" cy="501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228600" indent="0"/>
            <a:r>
              <a:rPr lang="ru-RU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1. </a:t>
            </a:r>
            <a:r>
              <a:rPr lang="ru-RU" sz="2600" b="1" dirty="0">
                <a:solidFill>
                  <a:schemeClr val="tx1"/>
                </a:solidFill>
                <a:effectLst/>
                <a:latin typeface="Candara" panose="020E0502030303020204" pitchFamily="34" charset="0"/>
                <a:ea typeface="Times New Roman" panose="02020603050405020304" pitchFamily="18" charset="0"/>
              </a:rPr>
              <a:t>Сохранение созданной модели нейронной сети для рекомендации соотношения «матрица–наполнитель»</a:t>
            </a:r>
            <a:endParaRPr lang="ru-RU" sz="2600" dirty="0">
              <a:solidFill>
                <a:schemeClr val="tx1"/>
              </a:solidFill>
              <a:effectLst/>
              <a:latin typeface="Candara" panose="020E0502030303020204" pitchFamily="34" charset="0"/>
              <a:ea typeface="Times New Roman" panose="02020603050405020304" pitchFamily="18" charset="0"/>
            </a:endParaRPr>
          </a:p>
          <a:p>
            <a:pPr marL="228600" indent="0"/>
            <a:endParaRPr lang="ru-RU" sz="5100" b="1" u="sng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8AC1BDB-9797-4A12-B4FC-ED5D4C2B9CD1}"/>
              </a:ext>
            </a:extLst>
          </p:cNvPr>
          <p:cNvGrpSpPr/>
          <p:nvPr/>
        </p:nvGrpSpPr>
        <p:grpSpPr>
          <a:xfrm>
            <a:off x="3161393" y="334830"/>
            <a:ext cx="8174571" cy="666000"/>
            <a:chOff x="1476753" y="3499669"/>
            <a:chExt cx="5932412" cy="666000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89C13AD3-6AFD-447D-B4AF-345F80DAE2DD}"/>
                </a:ext>
              </a:extLst>
            </p:cNvPr>
            <p:cNvSpPr/>
            <p:nvPr/>
          </p:nvSpPr>
          <p:spPr>
            <a:xfrm>
              <a:off x="1476753" y="3499669"/>
              <a:ext cx="5870934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b="1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Candara" panose="020E0502030303020204" pitchFamily="34" charset="0"/>
                  <a:cs typeface="ALS Sector Bold" pitchFamily="2" charset="0"/>
                </a:rPr>
                <a:t>Веб-приложение для рекомендации соотношения «матрица-наполнитель»</a:t>
              </a:r>
              <a:endParaRPr lang="ru-RU" sz="2400" b="1" spc="180" dirty="0">
                <a:latin typeface="Candara" panose="020E0502030303020204" pitchFamily="34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1476754" y="3499669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Candara" panose="020E0502030303020204" pitchFamily="34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7319116" y="3499669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Candara" panose="020E0502030303020204" pitchFamily="34" charset="0"/>
              </a:endParaRPr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D656141-FAC8-495F-AC04-5AA89793E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034" y="995455"/>
            <a:ext cx="4238984" cy="498056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F569DE3-0B43-45C5-A685-2C0B4AA40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18" y="1671281"/>
            <a:ext cx="4987782" cy="564327"/>
          </a:xfrm>
          <a:prstGeom prst="rect">
            <a:avLst/>
          </a:prstGeom>
        </p:spPr>
      </p:pic>
      <p:sp>
        <p:nvSpPr>
          <p:cNvPr id="14" name="Текст 2">
            <a:extLst>
              <a:ext uri="{FF2B5EF4-FFF2-40B4-BE49-F238E27FC236}">
                <a16:creationId xmlns:a16="http://schemas.microsoft.com/office/drawing/2014/main" id="{4A5F4F9E-0C02-4A97-ABD7-C9AF9DF9AADB}"/>
              </a:ext>
            </a:extLst>
          </p:cNvPr>
          <p:cNvSpPr txBox="1">
            <a:spLocks/>
          </p:cNvSpPr>
          <p:nvPr/>
        </p:nvSpPr>
        <p:spPr>
          <a:xfrm>
            <a:off x="228232" y="2182851"/>
            <a:ext cx="7333402" cy="878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None/>
              <a:defRPr sz="2700" b="0" i="0" u="none" strike="noStrike" cap="none" baseline="0">
                <a:solidFill>
                  <a:srgbClr val="F1BE29"/>
                </a:solidFill>
                <a:latin typeface="ALS Sector Regular" panose="02000000000000000000" pitchFamily="2" charset="0"/>
                <a:ea typeface="Open Sans"/>
                <a:cs typeface="ALS Sector Regular" panose="02000000000000000000" pitchFamily="2" charset="0"/>
                <a:sym typeface="Open Sans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6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 sz="1400" b="0" i="0" u="none" strike="noStrike" cap="none">
                <a:solidFill>
                  <a:srgbClr val="26262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228600" indent="0"/>
            <a:r>
              <a:rPr lang="ru-RU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2. Создание в Visual Studio, интегрированной среде разработки (IDE), с использование шаблона веб-проекта </a:t>
            </a:r>
            <a:r>
              <a:rPr lang="ru-RU" sz="2600" b="1" dirty="0" err="1">
                <a:solidFill>
                  <a:schemeClr val="tx1"/>
                </a:solidFill>
                <a:latin typeface="Candara" panose="020E0502030303020204" pitchFamily="34" charset="0"/>
              </a:rPr>
              <a:t>Flask</a:t>
            </a:r>
            <a:r>
              <a:rPr lang="ru-RU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 файловой структуры приложения с основным файлом «app.py» с кодом загрузки модели из ранее сохраненного файла «</a:t>
            </a:r>
            <a:r>
              <a:rPr lang="ru-RU" sz="2600" b="1" dirty="0" err="1">
                <a:solidFill>
                  <a:schemeClr val="tx1"/>
                </a:solidFill>
                <a:latin typeface="Candara" panose="020E0502030303020204" pitchFamily="34" charset="0"/>
              </a:rPr>
              <a:t>model.keras</a:t>
            </a:r>
            <a:r>
              <a:rPr lang="ru-RU" sz="2600" b="1" dirty="0">
                <a:solidFill>
                  <a:schemeClr val="tx1"/>
                </a:solidFill>
                <a:latin typeface="Candara" panose="020E0502030303020204" pitchFamily="34" charset="0"/>
              </a:rPr>
              <a:t>» и получение 8 переменных для обработки. Интерфейс приложения поддерживается за счет обращения к файлу «index.html» </a:t>
            </a:r>
            <a:endParaRPr lang="ru-RU" sz="5100" b="1" u="sng" dirty="0">
              <a:solidFill>
                <a:schemeClr val="tx1"/>
              </a:solidFill>
              <a:latin typeface="Candara" panose="020E0502030303020204" pitchFamily="34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2CACB6E-41E2-4C82-9029-1601800ED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89" y="2874236"/>
            <a:ext cx="3170344" cy="391232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13CEAE2-2FB9-427A-A378-A77A6BA9E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9636" y="2851636"/>
            <a:ext cx="3727442" cy="3912329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8E8AC80-FAB0-48A9-AE10-D9309EE79440}"/>
              </a:ext>
            </a:extLst>
          </p:cNvPr>
          <p:cNvSpPr txBox="1"/>
          <p:nvPr/>
        </p:nvSpPr>
        <p:spPr>
          <a:xfrm>
            <a:off x="8302515" y="5976017"/>
            <a:ext cx="34146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* Running on all addresses (0.0.0.0)</a:t>
            </a:r>
          </a:p>
          <a:p>
            <a:r>
              <a:rPr lang="en-US" dirty="0"/>
              <a:t> * Running on http://127.0.0.1:5000</a:t>
            </a:r>
          </a:p>
          <a:p>
            <a:r>
              <a:rPr lang="en-US" dirty="0"/>
              <a:t> * Running on http://192.168.1.48:5000</a:t>
            </a:r>
          </a:p>
        </p:txBody>
      </p:sp>
    </p:spTree>
    <p:extLst>
      <p:ext uri="{BB962C8B-B14F-4D97-AF65-F5344CB8AC3E}">
        <p14:creationId xmlns:p14="http://schemas.microsoft.com/office/powerpoint/2010/main" val="2286787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542A9EF0-C372-49E0-A6DB-C1F10C19AAB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73628" y="6434051"/>
            <a:ext cx="570309" cy="275255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14</a:t>
            </a:fld>
            <a:endParaRPr lang="ru-RU" dirty="0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8AC1BDB-9797-4A12-B4FC-ED5D4C2B9CD1}"/>
              </a:ext>
            </a:extLst>
          </p:cNvPr>
          <p:cNvGrpSpPr/>
          <p:nvPr/>
        </p:nvGrpSpPr>
        <p:grpSpPr>
          <a:xfrm>
            <a:off x="3125821" y="323967"/>
            <a:ext cx="8103519" cy="666136"/>
            <a:chOff x="1455644" y="3326678"/>
            <a:chExt cx="5880848" cy="666136"/>
          </a:xfrm>
        </p:grpSpPr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89C13AD3-6AFD-447D-B4AF-345F80DAE2DD}"/>
                </a:ext>
              </a:extLst>
            </p:cNvPr>
            <p:cNvSpPr/>
            <p:nvPr/>
          </p:nvSpPr>
          <p:spPr>
            <a:xfrm>
              <a:off x="1455644" y="3326814"/>
              <a:ext cx="5880848" cy="666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b="1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Candara" panose="020E0502030303020204" pitchFamily="34" charset="0"/>
                  <a:cs typeface="ALS Sector Bold" pitchFamily="2" charset="0"/>
                </a:rPr>
                <a:t>Создание репозитория на </a:t>
              </a:r>
              <a:r>
                <a:rPr lang="en-US" sz="2400" b="1" spc="180" dirty="0">
                  <a:ln>
                    <a:solidFill>
                      <a:srgbClr val="065CAB"/>
                    </a:solidFill>
                  </a:ln>
                  <a:solidFill>
                    <a:srgbClr val="065CAB"/>
                  </a:solidFill>
                  <a:latin typeface="Candara" panose="020E0502030303020204" pitchFamily="34" charset="0"/>
                  <a:cs typeface="ALS Sector Bold" pitchFamily="2" charset="0"/>
                </a:rPr>
                <a:t>GitHub</a:t>
              </a:r>
              <a:endParaRPr lang="ru-RU" sz="2400" b="1" spc="180" dirty="0">
                <a:latin typeface="Candara" panose="020E0502030303020204" pitchFamily="34" charset="0"/>
                <a:cs typeface="ALS Sector Bold" pitchFamily="2" charset="0"/>
              </a:endParaRPr>
            </a:p>
          </p:txBody>
        </p:sp>
        <p:sp>
          <p:nvSpPr>
            <p:cNvPr id="22" name="Прямоугольник 58">
              <a:extLst>
                <a:ext uri="{FF2B5EF4-FFF2-40B4-BE49-F238E27FC236}">
                  <a16:creationId xmlns:a16="http://schemas.microsoft.com/office/drawing/2014/main" id="{6B9297EB-1310-4C5F-A390-8C10AE4D1F31}"/>
                </a:ext>
              </a:extLst>
            </p:cNvPr>
            <p:cNvSpPr/>
            <p:nvPr/>
          </p:nvSpPr>
          <p:spPr>
            <a:xfrm rot="10800000" flipH="1">
              <a:off x="2163880" y="3326814"/>
              <a:ext cx="7657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65CA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Candara" panose="020E0502030303020204" pitchFamily="34" charset="0"/>
              </a:endParaRPr>
            </a:p>
          </p:txBody>
        </p:sp>
        <p:sp>
          <p:nvSpPr>
            <p:cNvPr id="23" name="Прямоугольник 58">
              <a:extLst>
                <a:ext uri="{FF2B5EF4-FFF2-40B4-BE49-F238E27FC236}">
                  <a16:creationId xmlns:a16="http://schemas.microsoft.com/office/drawing/2014/main" id="{2A56CCB7-652F-4E87-98F1-EB2990DFF5AA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6279014" y="3326678"/>
              <a:ext cx="90049" cy="666000"/>
            </a:xfrm>
            <a:custGeom>
              <a:avLst/>
              <a:gdLst>
                <a:gd name="connsiteX0" fmla="*/ 0 w 424732"/>
                <a:gd name="connsiteY0" fmla="*/ 0 h 424732"/>
                <a:gd name="connsiteX1" fmla="*/ 424732 w 424732"/>
                <a:gd name="connsiteY1" fmla="*/ 0 h 424732"/>
                <a:gd name="connsiteX2" fmla="*/ 424732 w 424732"/>
                <a:gd name="connsiteY2" fmla="*/ 424732 h 424732"/>
                <a:gd name="connsiteX3" fmla="*/ 0 w 424732"/>
                <a:gd name="connsiteY3" fmla="*/ 424732 h 424732"/>
                <a:gd name="connsiteX4" fmla="*/ 0 w 424732"/>
                <a:gd name="connsiteY4" fmla="*/ 0 h 424732"/>
                <a:gd name="connsiteX0" fmla="*/ 0 w 425450"/>
                <a:gd name="connsiteY0" fmla="*/ 0 h 424732"/>
                <a:gd name="connsiteX1" fmla="*/ 424732 w 425450"/>
                <a:gd name="connsiteY1" fmla="*/ 0 h 424732"/>
                <a:gd name="connsiteX2" fmla="*/ 425450 w 425450"/>
                <a:gd name="connsiteY2" fmla="*/ 238890 h 424732"/>
                <a:gd name="connsiteX3" fmla="*/ 424732 w 425450"/>
                <a:gd name="connsiteY3" fmla="*/ 424732 h 424732"/>
                <a:gd name="connsiteX4" fmla="*/ 0 w 425450"/>
                <a:gd name="connsiteY4" fmla="*/ 424732 h 424732"/>
                <a:gd name="connsiteX5" fmla="*/ 0 w 425450"/>
                <a:gd name="connsiteY5" fmla="*/ 0 h 424732"/>
                <a:gd name="connsiteX0" fmla="*/ 425450 w 516890"/>
                <a:gd name="connsiteY0" fmla="*/ 238890 h 424732"/>
                <a:gd name="connsiteX1" fmla="*/ 424732 w 516890"/>
                <a:gd name="connsiteY1" fmla="*/ 424732 h 424732"/>
                <a:gd name="connsiteX2" fmla="*/ 0 w 516890"/>
                <a:gd name="connsiteY2" fmla="*/ 424732 h 424732"/>
                <a:gd name="connsiteX3" fmla="*/ 0 w 516890"/>
                <a:gd name="connsiteY3" fmla="*/ 0 h 424732"/>
                <a:gd name="connsiteX4" fmla="*/ 424732 w 516890"/>
                <a:gd name="connsiteY4" fmla="*/ 0 h 424732"/>
                <a:gd name="connsiteX5" fmla="*/ 516890 w 516890"/>
                <a:gd name="connsiteY5" fmla="*/ 330330 h 424732"/>
                <a:gd name="connsiteX0" fmla="*/ 424732 w 516890"/>
                <a:gd name="connsiteY0" fmla="*/ 424732 h 424732"/>
                <a:gd name="connsiteX1" fmla="*/ 0 w 516890"/>
                <a:gd name="connsiteY1" fmla="*/ 424732 h 424732"/>
                <a:gd name="connsiteX2" fmla="*/ 0 w 516890"/>
                <a:gd name="connsiteY2" fmla="*/ 0 h 424732"/>
                <a:gd name="connsiteX3" fmla="*/ 424732 w 516890"/>
                <a:gd name="connsiteY3" fmla="*/ 0 h 424732"/>
                <a:gd name="connsiteX4" fmla="*/ 516890 w 516890"/>
                <a:gd name="connsiteY4" fmla="*/ 330330 h 424732"/>
                <a:gd name="connsiteX0" fmla="*/ 424732 w 424732"/>
                <a:gd name="connsiteY0" fmla="*/ 424732 h 424732"/>
                <a:gd name="connsiteX1" fmla="*/ 0 w 424732"/>
                <a:gd name="connsiteY1" fmla="*/ 424732 h 424732"/>
                <a:gd name="connsiteX2" fmla="*/ 0 w 424732"/>
                <a:gd name="connsiteY2" fmla="*/ 0 h 424732"/>
                <a:gd name="connsiteX3" fmla="*/ 424732 w 424732"/>
                <a:gd name="connsiteY3" fmla="*/ 0 h 42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732" h="424732">
                  <a:moveTo>
                    <a:pt x="424732" y="424732"/>
                  </a:moveTo>
                  <a:lnTo>
                    <a:pt x="0" y="424732"/>
                  </a:lnTo>
                  <a:lnTo>
                    <a:pt x="0" y="0"/>
                  </a:lnTo>
                  <a:lnTo>
                    <a:pt x="424732" y="0"/>
                  </a:lnTo>
                </a:path>
              </a:pathLst>
            </a:custGeom>
            <a:ln w="16510">
              <a:solidFill>
                <a:srgbClr val="0046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>
                <a:solidFill>
                  <a:srgbClr val="065CAB"/>
                </a:solidFill>
                <a:latin typeface="Candara" panose="020E0502030303020204" pitchFamily="34" charset="0"/>
              </a:endParaRPr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FB4B23-EA06-46CB-A93F-5F9897158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81" y="1468724"/>
            <a:ext cx="4078069" cy="45883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6F9A0F5-55D1-4442-914F-E2D86C9388D2}"/>
              </a:ext>
            </a:extLst>
          </p:cNvPr>
          <p:cNvSpPr txBox="1"/>
          <p:nvPr/>
        </p:nvSpPr>
        <p:spPr>
          <a:xfrm>
            <a:off x="5561332" y="1110879"/>
            <a:ext cx="609600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dirty="0"/>
              <a:t>Репозиторий был создан на github.com по адресу:  </a:t>
            </a:r>
          </a:p>
          <a:p>
            <a:r>
              <a:rPr lang="ru-RU" sz="1400" u="sng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hlinkClick r:id="rId3"/>
              </a:rPr>
              <a:t>https://github.com/GaleV13/Galeproject</a:t>
            </a:r>
            <a:endParaRPr lang="ru-RU" sz="1400" u="sng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Arial" panose="020B0604020202020204" pitchFamily="34" charset="0"/>
            </a:endParaRPr>
          </a:p>
          <a:p>
            <a:pPr indent="447675"/>
            <a:r>
              <a:rPr lang="ru-RU" dirty="0"/>
              <a:t>и клонирован в Visual Studio для наполнения</a:t>
            </a:r>
            <a:r>
              <a:rPr lang="ru-RU" sz="1400" b="0" kern="0" dirty="0">
                <a:effectLst/>
                <a:ea typeface="Times New Roman" panose="02020603050405020304" pitchFamily="18" charset="0"/>
              </a:rPr>
              <a:t>, изменения из локальной версии.</a:t>
            </a:r>
          </a:p>
          <a:p>
            <a:pPr indent="447675"/>
            <a:r>
              <a:rPr lang="ru-RU" dirty="0"/>
              <a:t>Наполнение репозитория включает все рабочие файлы проекта, ВКР, презентацию, пакет файлов веб-приложения для его запуска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15B95F-B070-47CE-A13E-7FDB3275C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5204" y="2704290"/>
            <a:ext cx="6095920" cy="394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303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9B588A-751F-4A7D-9A55-443F1006EA62}"/>
              </a:ext>
            </a:extLst>
          </p:cNvPr>
          <p:cNvSpPr txBox="1"/>
          <p:nvPr/>
        </p:nvSpPr>
        <p:spPr>
          <a:xfrm>
            <a:off x="2924783" y="4369872"/>
            <a:ext cx="701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+mn-lt"/>
              </a:rPr>
              <a:t>Спасибо за внимание!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If,kjyVUNE_28012021">
  <a:themeElements>
    <a:clrScheme name="МГТУ10128">
      <a:dk1>
        <a:srgbClr val="000000"/>
      </a:dk1>
      <a:lt1>
        <a:srgbClr val="FFFFFF"/>
      </a:lt1>
      <a:dk2>
        <a:srgbClr val="062646"/>
      </a:dk2>
      <a:lt2>
        <a:srgbClr val="E3F0FD"/>
      </a:lt2>
      <a:accent1>
        <a:srgbClr val="0E5DAB"/>
      </a:accent1>
      <a:accent2>
        <a:srgbClr val="7BC6DF"/>
      </a:accent2>
      <a:accent3>
        <a:srgbClr val="F99D27"/>
      </a:accent3>
      <a:accent4>
        <a:srgbClr val="BDD7EE"/>
      </a:accent4>
      <a:accent5>
        <a:srgbClr val="FFC000"/>
      </a:accent5>
      <a:accent6>
        <a:srgbClr val="A5A5A5"/>
      </a:accent6>
      <a:hlink>
        <a:srgbClr val="1F75E2"/>
      </a:hlink>
      <a:folHlink>
        <a:srgbClr val="FA34DE"/>
      </a:folHlink>
    </a:clrScheme>
    <a:fontScheme name="Основная">
      <a:majorFont>
        <a:latin typeface="ALS Sector Bold"/>
        <a:ea typeface=""/>
        <a:cs typeface=""/>
      </a:majorFont>
      <a:minorFont>
        <a:latin typeface="ALS Sector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300" dirty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1664</TotalTime>
  <Words>996</Words>
  <Application>Microsoft Office PowerPoint</Application>
  <PresentationFormat>Широкоэкранный</PresentationFormat>
  <Paragraphs>88</Paragraphs>
  <Slides>15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4" baseType="lpstr">
      <vt:lpstr>Times New Roman</vt:lpstr>
      <vt:lpstr>Candara</vt:lpstr>
      <vt:lpstr>Noto Sans Symbols</vt:lpstr>
      <vt:lpstr>ALS Sector Regular</vt:lpstr>
      <vt:lpstr>ALS Sector Bold</vt:lpstr>
      <vt:lpstr>Open Sans</vt:lpstr>
      <vt:lpstr>menlo</vt:lpstr>
      <vt:lpstr>Arial</vt:lpstr>
      <vt:lpstr>If,kjyVUNE_28012021</vt:lpstr>
      <vt:lpstr>Прогнозирование конечных свойств новых материалов  (композиционных материалов)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Фомина Ольга</dc:creator>
  <cp:lastModifiedBy>Сергей Васильев</cp:lastModifiedBy>
  <cp:revision>140</cp:revision>
  <dcterms:created xsi:type="dcterms:W3CDTF">2021-02-24T09:03:25Z</dcterms:created>
  <dcterms:modified xsi:type="dcterms:W3CDTF">2025-11-30T20:01:56Z</dcterms:modified>
</cp:coreProperties>
</file>